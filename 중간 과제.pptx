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4660"/>
  </p:normalViewPr>
  <p:slideViewPr>
    <p:cSldViewPr snapToGrid="0">
      <p:cViewPr varScale="1">
        <p:scale>
          <a:sx n="61" d="100"/>
          <a:sy n="61" d="100"/>
        </p:scale>
        <p:origin x="58" y="123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219EA-2DBC-A706-5518-15499273D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59DEC4-DEF1-D6FA-91C0-DB969A857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2B75F9-992B-FCCD-D111-2587F3D3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7367AC-D73F-6ADD-3DC0-530150D31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B0E8D2-2FE6-50E2-37EC-F4F19CCC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0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7D4B7-7CFE-8747-7947-0C5C03D66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5356D-3526-BDAA-0F8E-143DA9593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9EC228-8AC7-DC27-BC7A-BF87137A2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9A8D7-4121-8A5C-6202-1083B955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9BFEC8-580E-E76A-FFA8-794D61B4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08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AB865-F3E4-9C39-DE66-CE12CD84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25B7A7-7831-724B-7240-408D9F666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3C89C-A213-7300-A3B0-AE210AD0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77231E-F47B-9C8A-9EFC-A3E3DE79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971C17-4A6B-0802-6ACD-AF7481FF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12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9AAB3-B791-AD6E-94AB-DCB0C4E8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4A0DC2-7D78-806C-B530-F7D435E8F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14807B-1671-3F58-E045-4161EFD8D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D858F7-91DB-6164-8A90-E99CF2B2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C609E8-1F3E-222F-1E24-8D2C6C95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70961A-3720-5C0B-2769-938C38C1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967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49DB3-6838-15A6-570A-BA6910080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008E4D-4DDD-47F7-5826-D32FB0F02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6B6B0E-5FC9-3BDA-C0AC-F78074DEF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190F67-05D0-EEE2-77E6-C5D16B80F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1FF730-A22E-B24A-7BC4-B34C3141A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4C5BA2-E9BD-A3AC-A833-A2845A97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06A07B-D2DC-1E53-00BF-10D021BB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A6DCA7-4DBC-FBAA-3D9E-D8D263FC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818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68F18-B4F1-42C5-C1DD-8A4955006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C83EEA-3893-A9C1-F629-7292F744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EB6149-9FF4-788B-7373-30C14C5F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D5961F-EA32-61E9-1723-9EBB31BD7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50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CBA703-5785-B818-10E8-683F50D0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1EC72B-214C-AF97-C969-A378F4C19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E9DF28-4FFB-911D-E193-642E98DF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442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237D8-BF4F-FE45-29D7-F1CF319B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BFDFB0-E94C-CCF3-7B11-B7B94FD2F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0DA0EF-8DDF-8ABF-9A83-BC5339803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B1308E-E647-F538-6051-9EF7EC29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9FE186-76B3-5F13-6FD0-C4E030F3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892994-D9B7-B7BF-E8CF-38C75DEC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79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D3C14C-B1AE-3C91-37CC-CF952762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824E9C-7EBF-1A68-9169-645D7B2CCBF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AE74D1-378A-366F-7B68-2DEBCA25A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CD2A16-2D5C-B6A7-0579-A489C6A8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CE6570-378F-A472-88A8-55EE6DA4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9CE7C1-B854-AA5A-F40D-0710363C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55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D66A7-2E70-54AC-5647-476FE4A4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343A81-1606-9C7F-7462-23AD77ACE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9AC832-B77A-54E0-B88F-5760F842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49150-95F0-52D6-1878-DDE24199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A8F071-FACD-D5E6-E32F-FFFFA7193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000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549D6E-EFC2-B4D5-C4A0-86F85A631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3C065F-0AF2-86E7-5572-A6E83937C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6460C-525B-34ED-E6B1-F4110201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EECF4-D875-8E6A-CD0C-3D07691D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D3B06-D1FA-6E73-90D5-74E9051E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78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9B6418-1930-8F64-DA90-663C4B09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010EF9-435F-9E46-A3C0-0EBC9EBFE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B23284-0678-C9F0-4E8A-D5A0302E2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82CCB-CAEC-49FF-B86D-A4FE5A9F7850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7BE15A-C063-DEA6-68F0-52F30751A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7083B1-CBE2-02FA-7D6C-114987DDD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6D6F1-3110-4CC0-9658-04DAD55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40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57B8F-3651-00CC-CFD6-452224B46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중간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2DD428-B29F-4AE4-415B-64602130D1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ko-KR" dirty="0"/>
              <a:t>모바일프로그래밍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426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43B2E-CD55-291F-6263-C85CCC81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인터랙티브</a:t>
            </a:r>
            <a:r>
              <a:rPr lang="en-US" altLang="ko-KR" dirty="0"/>
              <a:t> 웹 앱 </a:t>
            </a:r>
            <a:r>
              <a:rPr lang="en-US" altLang="ko-KR" dirty="0" err="1"/>
              <a:t>제작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7FA6CB-ED4E-D48F-D7C4-E884EC2D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en-US" altLang="ko-KR" dirty="0" err="1"/>
              <a:t>화면과</a:t>
            </a:r>
            <a:r>
              <a:rPr lang="en-US" altLang="ko-KR" dirty="0"/>
              <a:t> Firebase </a:t>
            </a:r>
            <a:r>
              <a:rPr lang="en-US" altLang="ko-KR" dirty="0" err="1"/>
              <a:t>인증</a:t>
            </a:r>
            <a:r>
              <a:rPr lang="en-US" altLang="ko-KR" dirty="0"/>
              <a:t>, Flask </a:t>
            </a:r>
            <a:r>
              <a:rPr lang="en-US" altLang="ko-KR" dirty="0" err="1"/>
              <a:t>서버를</a:t>
            </a:r>
            <a:r>
              <a:rPr lang="en-US" altLang="ko-KR" dirty="0"/>
              <a:t> </a:t>
            </a:r>
            <a:r>
              <a:rPr lang="en-US" altLang="ko-KR" dirty="0" err="1"/>
              <a:t>통한</a:t>
            </a:r>
            <a:r>
              <a:rPr lang="en-US" altLang="ko-KR" dirty="0"/>
              <a:t> Gemini </a:t>
            </a:r>
            <a:r>
              <a:rPr lang="en-US" altLang="ko-KR" dirty="0" err="1"/>
              <a:t>연동을</a:t>
            </a:r>
            <a:r>
              <a:rPr lang="en-US" altLang="ko-KR" dirty="0"/>
              <a:t> </a:t>
            </a:r>
            <a:r>
              <a:rPr lang="en-US" altLang="ko-KR" dirty="0" err="1"/>
              <a:t>하나의</a:t>
            </a:r>
            <a:r>
              <a:rPr lang="en-US" altLang="ko-KR" dirty="0"/>
              <a:t> 웹 </a:t>
            </a:r>
            <a:r>
              <a:rPr lang="en-US" altLang="ko-KR" dirty="0" err="1"/>
              <a:t>앱으로</a:t>
            </a:r>
            <a:r>
              <a:rPr lang="en-US" altLang="ko-KR" dirty="0"/>
              <a:t> </a:t>
            </a:r>
            <a:r>
              <a:rPr lang="en-US" altLang="ko-KR" dirty="0" err="1"/>
              <a:t>제작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주제 </a:t>
            </a:r>
            <a:r>
              <a:rPr lang="en-US" altLang="ko-KR" dirty="0"/>
              <a:t>: </a:t>
            </a:r>
            <a:r>
              <a:rPr lang="ko-KR" altLang="en-US" dirty="0"/>
              <a:t>자유주제</a:t>
            </a:r>
            <a:endParaRPr lang="en-US" altLang="ko-KR" dirty="0"/>
          </a:p>
          <a:p>
            <a:r>
              <a:rPr lang="ko-KR" altLang="en-US" dirty="0"/>
              <a:t>제작기간 </a:t>
            </a:r>
            <a:r>
              <a:rPr lang="en-US" altLang="ko-KR" dirty="0"/>
              <a:t>: 2</a:t>
            </a:r>
            <a:r>
              <a:rPr lang="ko-KR" altLang="en-US" dirty="0"/>
              <a:t>주</a:t>
            </a:r>
            <a:endParaRPr lang="en-US" altLang="ko-KR" dirty="0"/>
          </a:p>
          <a:p>
            <a:r>
              <a:rPr lang="ko-KR" altLang="en-US" dirty="0"/>
              <a:t>제출일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25</a:t>
            </a:r>
            <a:r>
              <a:rPr lang="ko-KR" altLang="en-US" dirty="0"/>
              <a:t>일 </a:t>
            </a:r>
            <a:endParaRPr lang="en-US" altLang="ko-KR" dirty="0"/>
          </a:p>
          <a:p>
            <a:r>
              <a:rPr lang="ko-KR" altLang="en-US" dirty="0"/>
              <a:t>제출방법 </a:t>
            </a:r>
            <a:r>
              <a:rPr lang="en-US" altLang="ko-KR" dirty="0"/>
              <a:t>: jeju_coding@naver.com</a:t>
            </a:r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475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1C9FC-97E0-C9C1-BBEC-B10924EB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587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공통 제작 조건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76F6A0E-D60D-A08F-B8BE-DFF4F150F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7902201"/>
              </p:ext>
            </p:extLst>
          </p:nvPr>
        </p:nvGraphicFramePr>
        <p:xfrm>
          <a:off x="923377" y="1248062"/>
          <a:ext cx="10345246" cy="47157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8492">
                  <a:extLst>
                    <a:ext uri="{9D8B030D-6E8A-4147-A177-3AD203B41FA5}">
                      <a16:colId xmlns:a16="http://schemas.microsoft.com/office/drawing/2014/main" val="2397277735"/>
                    </a:ext>
                  </a:extLst>
                </a:gridCol>
                <a:gridCol w="8596754">
                  <a:extLst>
                    <a:ext uri="{9D8B030D-6E8A-4147-A177-3AD203B41FA5}">
                      <a16:colId xmlns:a16="http://schemas.microsoft.com/office/drawing/2014/main" val="1448774499"/>
                    </a:ext>
                  </a:extLst>
                </a:gridCol>
              </a:tblGrid>
              <a:tr h="43855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조건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작품에서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확인할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내용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231075063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화면과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스타일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JSX로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화면을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구성하고</a:t>
                      </a:r>
                      <a:r>
                        <a:rPr lang="en-US" sz="1500" b="1" dirty="0">
                          <a:effectLst/>
                        </a:rPr>
                        <a:t> App.css 등 CSS </a:t>
                      </a:r>
                      <a:r>
                        <a:rPr lang="en-US" sz="1500" b="1" dirty="0" err="1">
                          <a:effectLst/>
                        </a:rPr>
                        <a:t>파일을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연결합니다</a:t>
                      </a:r>
                      <a:r>
                        <a:rPr lang="en-US" sz="1500" b="1" dirty="0">
                          <a:effectLst/>
                        </a:rPr>
                        <a:t>.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800700030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>
                          <a:effectLst/>
                        </a:rPr>
                        <a:t>데이터 표시</a:t>
                      </a:r>
                      <a:endParaRPr lang="ko-KR" sz="1500" b="1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변수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값을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표시하고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계산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결과</a:t>
                      </a:r>
                      <a:r>
                        <a:rPr lang="en-US" sz="1500" b="1" dirty="0">
                          <a:effectLst/>
                        </a:rPr>
                        <a:t> 1개 </a:t>
                      </a:r>
                      <a:r>
                        <a:rPr lang="en-US" sz="1500" b="1" dirty="0" err="1">
                          <a:effectLst/>
                        </a:rPr>
                        <a:t>이상을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출력합니다</a:t>
                      </a:r>
                      <a:r>
                        <a:rPr lang="en-US" sz="1500" b="1" dirty="0">
                          <a:effectLst/>
                        </a:rPr>
                        <a:t>. 예: </a:t>
                      </a:r>
                      <a:r>
                        <a:rPr lang="en-US" sz="1500" b="1" dirty="0" err="1">
                          <a:effectLst/>
                        </a:rPr>
                        <a:t>합계</a:t>
                      </a:r>
                      <a:r>
                        <a:rPr lang="en-US" sz="1500" b="1" dirty="0">
                          <a:effectLst/>
                        </a:rPr>
                        <a:t>, </a:t>
                      </a:r>
                      <a:r>
                        <a:rPr lang="en-US" sz="1500" b="1" dirty="0" err="1">
                          <a:effectLst/>
                        </a:rPr>
                        <a:t>점수</a:t>
                      </a:r>
                      <a:r>
                        <a:rPr lang="en-US" sz="1500" b="1" dirty="0">
                          <a:effectLst/>
                        </a:rPr>
                        <a:t>, </a:t>
                      </a:r>
                      <a:r>
                        <a:rPr lang="en-US" sz="1500" b="1" dirty="0" err="1">
                          <a:effectLst/>
                        </a:rPr>
                        <a:t>진행률</a:t>
                      </a:r>
                      <a:r>
                        <a:rPr lang="en-US" sz="1500" b="1" dirty="0">
                          <a:effectLst/>
                        </a:rPr>
                        <a:t>.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797619646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>
                          <a:effectLst/>
                        </a:rPr>
                        <a:t>반복과 조건</a:t>
                      </a:r>
                      <a:endParaRPr lang="ko-KR" sz="1500" b="1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>
                          <a:effectLst/>
                        </a:rPr>
                        <a:t>배열과 map으로 목록을 만들고 고유한 key를 지정합니다. 조건부 표시 1개 이상을 구현합니다.</a:t>
                      </a:r>
                      <a:endParaRPr lang="ko-KR" sz="1500" b="1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862618818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>
                          <a:effectLst/>
                        </a:rPr>
                        <a:t>상태</a:t>
                      </a:r>
                      <a:endParaRPr lang="ko-KR" sz="1500" b="1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상태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변경이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화면에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반영되어야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합니다</a:t>
                      </a:r>
                      <a:r>
                        <a:rPr lang="en-US" sz="1500" b="1" dirty="0">
                          <a:effectLst/>
                        </a:rPr>
                        <a:t>.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471531440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>
                          <a:effectLst/>
                        </a:rPr>
                        <a:t>이벤트</a:t>
                      </a:r>
                      <a:endParaRPr lang="ko-KR" sz="1500" b="1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onClick</a:t>
                      </a:r>
                      <a:r>
                        <a:rPr lang="en-US" sz="1500" b="1" dirty="0">
                          <a:effectLst/>
                        </a:rPr>
                        <a:t> 두 곳</a:t>
                      </a:r>
                      <a:r>
                        <a:rPr lang="ko-KR" altLang="en-US" sz="1500" b="1" dirty="0">
                          <a:effectLst/>
                        </a:rPr>
                        <a:t>이상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사용해도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됩니다</a:t>
                      </a:r>
                      <a:r>
                        <a:rPr lang="en-US" sz="1500" b="1" dirty="0">
                          <a:effectLst/>
                        </a:rPr>
                        <a:t>.(</a:t>
                      </a:r>
                      <a:r>
                        <a:rPr lang="en-US" altLang="ko-KR" sz="1500" b="1" dirty="0" err="1">
                          <a:effectLst/>
                        </a:rPr>
                        <a:t>사용자</a:t>
                      </a:r>
                      <a:r>
                        <a:rPr lang="en-US" altLang="ko-KR" sz="1500" b="1" dirty="0">
                          <a:effectLst/>
                        </a:rPr>
                        <a:t> </a:t>
                      </a:r>
                      <a:r>
                        <a:rPr lang="en-US" altLang="ko-KR" sz="1500" b="1" dirty="0" err="1">
                          <a:effectLst/>
                        </a:rPr>
                        <a:t>조작</a:t>
                      </a:r>
                      <a:r>
                        <a:rPr lang="en-US" altLang="ko-KR" sz="1500" b="1" dirty="0">
                          <a:effectLst/>
                        </a:rPr>
                        <a:t> 2개 </a:t>
                      </a:r>
                      <a:r>
                        <a:rPr lang="en-US" altLang="ko-KR" sz="1500" b="1" dirty="0" err="1">
                          <a:effectLst/>
                        </a:rPr>
                        <a:t>이상을</a:t>
                      </a:r>
                      <a:r>
                        <a:rPr lang="en-US" altLang="ko-KR" sz="1500" b="1" dirty="0">
                          <a:effectLst/>
                        </a:rPr>
                        <a:t> </a:t>
                      </a:r>
                      <a:r>
                        <a:rPr lang="en-US" altLang="ko-KR" sz="1500" b="1" dirty="0" err="1">
                          <a:effectLst/>
                        </a:rPr>
                        <a:t>함수와</a:t>
                      </a:r>
                      <a:r>
                        <a:rPr lang="en-US" altLang="ko-KR" sz="1500" b="1" dirty="0">
                          <a:effectLst/>
                        </a:rPr>
                        <a:t> </a:t>
                      </a:r>
                      <a:r>
                        <a:rPr lang="en-US" altLang="ko-KR" sz="1500" b="1" dirty="0" err="1">
                          <a:effectLst/>
                        </a:rPr>
                        <a:t>연결합니다</a:t>
                      </a:r>
                      <a:r>
                        <a:rPr lang="en-US" altLang="ko-KR" sz="1500" b="1" dirty="0">
                          <a:effectLst/>
                        </a:rPr>
                        <a:t>)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91264342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>
                          <a:effectLst/>
                        </a:rPr>
                        <a:t>결과와 초기화</a:t>
                      </a:r>
                      <a:endParaRPr lang="ko-KR" sz="1500" b="1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결과·진행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안내를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표시하고</a:t>
                      </a:r>
                      <a:r>
                        <a:rPr lang="en-US" sz="1500" b="1" dirty="0">
                          <a:effectLst/>
                        </a:rPr>
                        <a:t>, </a:t>
                      </a:r>
                      <a:r>
                        <a:rPr lang="en-US" sz="1500" b="1" dirty="0" err="1">
                          <a:effectLst/>
                        </a:rPr>
                        <a:t>다시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시작</a:t>
                      </a:r>
                      <a:r>
                        <a:rPr lang="en-US" sz="1500" b="1" dirty="0">
                          <a:effectLst/>
                        </a:rPr>
                        <a:t> 시 </a:t>
                      </a:r>
                      <a:r>
                        <a:rPr lang="en-US" sz="1500" b="1" dirty="0" err="1">
                          <a:effectLst/>
                        </a:rPr>
                        <a:t>작품의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진행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상태를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처음으로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되돌립니다</a:t>
                      </a:r>
                      <a:r>
                        <a:rPr lang="en-US" sz="1500" b="1" dirty="0">
                          <a:effectLst/>
                        </a:rPr>
                        <a:t>.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175214177"/>
                  </a:ext>
                </a:extLst>
              </a:tr>
              <a:tr h="768797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>
                          <a:effectLst/>
                        </a:rPr>
                        <a:t>Firebase 인증</a:t>
                      </a:r>
                      <a:endParaRPr lang="ko-KR" sz="1500" b="1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이메일·비밀번호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가입과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로그인</a:t>
                      </a:r>
                      <a:r>
                        <a:rPr lang="en-US" sz="1500" b="1" dirty="0">
                          <a:effectLst/>
                        </a:rPr>
                        <a:t>, </a:t>
                      </a:r>
                    </a:p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새로고침</a:t>
                      </a:r>
                      <a:r>
                        <a:rPr lang="en-US" sz="1500" b="1" dirty="0">
                          <a:effectLst/>
                        </a:rPr>
                        <a:t> 후 </a:t>
                      </a:r>
                      <a:r>
                        <a:rPr lang="en-US" sz="1500" b="1" dirty="0" err="1">
                          <a:effectLst/>
                        </a:rPr>
                        <a:t>로그인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상태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확인</a:t>
                      </a:r>
                      <a:r>
                        <a:rPr lang="en-US" sz="1500" b="1" dirty="0">
                          <a:effectLst/>
                        </a:rPr>
                        <a:t>, </a:t>
                      </a:r>
                      <a:r>
                        <a:rPr lang="en-US" sz="1500" b="1" dirty="0" err="1">
                          <a:effectLst/>
                        </a:rPr>
                        <a:t>로그아웃</a:t>
                      </a:r>
                      <a:r>
                        <a:rPr lang="en-US" sz="1500" b="1" dirty="0">
                          <a:effectLst/>
                        </a:rPr>
                        <a:t>, </a:t>
                      </a:r>
                      <a:r>
                        <a:rPr lang="en-US" sz="1500" b="1" dirty="0" err="1">
                          <a:effectLst/>
                        </a:rPr>
                        <a:t>비로그인</a:t>
                      </a:r>
                      <a:r>
                        <a:rPr lang="en-US" sz="1500" b="1" dirty="0">
                          <a:effectLst/>
                        </a:rPr>
                        <a:t> 시 </a:t>
                      </a:r>
                      <a:r>
                        <a:rPr lang="en-US" sz="1500" b="1" dirty="0" err="1">
                          <a:effectLst/>
                        </a:rPr>
                        <a:t>작품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화면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진입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제한</a:t>
                      </a:r>
                      <a:r>
                        <a:rPr lang="en-US" sz="1500" b="1" dirty="0">
                          <a:effectLst/>
                        </a:rPr>
                        <a:t>.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581821680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>
                          <a:effectLst/>
                        </a:rPr>
                        <a:t>Gemini 연동</a:t>
                      </a:r>
                      <a:endParaRPr lang="ko-KR" sz="1500" b="1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실제</a:t>
                      </a:r>
                      <a:r>
                        <a:rPr lang="en-US" sz="1500" b="1" dirty="0">
                          <a:effectLst/>
                        </a:rPr>
                        <a:t> Gemini API → JSON </a:t>
                      </a:r>
                      <a:r>
                        <a:rPr lang="en-US" sz="1500" b="1" dirty="0" err="1">
                          <a:effectLst/>
                        </a:rPr>
                        <a:t>응답</a:t>
                      </a:r>
                      <a:r>
                        <a:rPr lang="en-US" sz="1500" b="1" dirty="0">
                          <a:effectLst/>
                        </a:rPr>
                        <a:t> → </a:t>
                      </a:r>
                      <a:r>
                        <a:rPr lang="en-US" sz="1500" b="1" dirty="0" err="1">
                          <a:effectLst/>
                        </a:rPr>
                        <a:t>화면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출력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074894483"/>
                  </a:ext>
                </a:extLst>
              </a:tr>
              <a:tr h="43855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>
                          <a:effectLst/>
                        </a:rPr>
                        <a:t>AI 활용 목적</a:t>
                      </a:r>
                      <a:endParaRPr lang="ko-KR" sz="1500" b="1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500" b="1" dirty="0" err="1">
                          <a:effectLst/>
                        </a:rPr>
                        <a:t>작품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주제에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맞는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해설·힌트·추천</a:t>
                      </a:r>
                      <a:r>
                        <a:rPr lang="en-US" sz="1500" b="1" dirty="0">
                          <a:effectLst/>
                        </a:rPr>
                        <a:t> 중 1개 </a:t>
                      </a:r>
                      <a:r>
                        <a:rPr lang="en-US" sz="1500" b="1" dirty="0" err="1">
                          <a:effectLst/>
                        </a:rPr>
                        <a:t>이상을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제공하고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사용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예를</a:t>
                      </a:r>
                      <a:r>
                        <a:rPr lang="en-US" sz="1500" b="1" dirty="0">
                          <a:effectLst/>
                        </a:rPr>
                        <a:t> </a:t>
                      </a:r>
                      <a:r>
                        <a:rPr lang="en-US" sz="1500" b="1" dirty="0" err="1">
                          <a:effectLst/>
                        </a:rPr>
                        <a:t>설명합니다</a:t>
                      </a:r>
                      <a:r>
                        <a:rPr lang="en-US" sz="1500" b="1" dirty="0">
                          <a:effectLst/>
                        </a:rPr>
                        <a:t>.</a:t>
                      </a:r>
                      <a:endParaRPr lang="ko-KR" sz="1500" b="1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43368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13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73EF-1DDC-F392-EE95-CD468380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A0541-3EB2-D91B-8F8C-04C63C3A1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587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주제 예시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A4DB365-5A37-4B1B-E89A-E66DE3D2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학습</a:t>
            </a:r>
            <a:r>
              <a:rPr lang="en-US" altLang="ko-KR" dirty="0"/>
              <a:t> </a:t>
            </a:r>
            <a:r>
              <a:rPr lang="en-US" altLang="ko-KR" dirty="0" err="1"/>
              <a:t>메모리</a:t>
            </a:r>
            <a:r>
              <a:rPr lang="en-US" altLang="ko-KR" dirty="0"/>
              <a:t> </a:t>
            </a:r>
            <a:r>
              <a:rPr lang="en-US" altLang="ko-KR" dirty="0" err="1"/>
              <a:t>게임</a:t>
            </a:r>
            <a:r>
              <a:rPr lang="en-US" altLang="ko-KR" dirty="0"/>
              <a:t> </a:t>
            </a:r>
          </a:p>
          <a:p>
            <a:r>
              <a:rPr lang="en-US" altLang="ko-KR" dirty="0" err="1"/>
              <a:t>캐릭터</a:t>
            </a:r>
            <a:r>
              <a:rPr lang="en-US" altLang="ko-KR" dirty="0"/>
              <a:t> </a:t>
            </a:r>
            <a:r>
              <a:rPr lang="en-US" altLang="ko-KR" dirty="0" err="1"/>
              <a:t>육성</a:t>
            </a:r>
            <a:r>
              <a:rPr lang="en-US" altLang="ko-KR" dirty="0"/>
              <a:t> </a:t>
            </a:r>
            <a:r>
              <a:rPr lang="en-US" altLang="ko-KR" dirty="0" err="1"/>
              <a:t>게임</a:t>
            </a:r>
            <a:r>
              <a:rPr lang="en-US" altLang="ko-KR" dirty="0"/>
              <a:t> </a:t>
            </a:r>
          </a:p>
          <a:p>
            <a:r>
              <a:rPr lang="en-US" altLang="ko-KR" dirty="0" err="1"/>
              <a:t>주제별</a:t>
            </a:r>
            <a:r>
              <a:rPr lang="en-US" altLang="ko-KR" dirty="0"/>
              <a:t> </a:t>
            </a:r>
            <a:r>
              <a:rPr lang="en-US" altLang="ko-KR" dirty="0" err="1"/>
              <a:t>퀴즈</a:t>
            </a:r>
            <a:endParaRPr lang="en-US" altLang="ko-KR" dirty="0"/>
          </a:p>
          <a:p>
            <a:r>
              <a:rPr lang="en-US" altLang="ko-KR" dirty="0" err="1"/>
              <a:t>생활</a:t>
            </a:r>
            <a:r>
              <a:rPr lang="en-US" altLang="ko-KR" dirty="0"/>
              <a:t> </a:t>
            </a:r>
            <a:r>
              <a:rPr lang="en-US" altLang="ko-KR" dirty="0" err="1"/>
              <a:t>도구</a:t>
            </a:r>
            <a:r>
              <a:rPr lang="en-US" altLang="ko-KR" dirty="0"/>
              <a:t>(AI</a:t>
            </a:r>
            <a:r>
              <a:rPr lang="ko-KR" altLang="en-US" dirty="0"/>
              <a:t> 다이어리</a:t>
            </a:r>
            <a:r>
              <a:rPr lang="en-US" altLang="ko-KR" dirty="0"/>
              <a:t>, AI</a:t>
            </a:r>
            <a:r>
              <a:rPr lang="ko-KR" altLang="en-US" dirty="0"/>
              <a:t>가계부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모든</a:t>
            </a:r>
            <a:r>
              <a:rPr lang="en-US" altLang="ko-KR" dirty="0"/>
              <a:t> </a:t>
            </a:r>
            <a:r>
              <a:rPr lang="en-US" altLang="ko-KR" dirty="0" err="1"/>
              <a:t>주제에</a:t>
            </a:r>
            <a:r>
              <a:rPr lang="en-US" altLang="ko-KR" dirty="0"/>
              <a:t> Firebase </a:t>
            </a:r>
            <a:r>
              <a:rPr lang="en-US" altLang="ko-KR" dirty="0" err="1"/>
              <a:t>인증과</a:t>
            </a:r>
            <a:r>
              <a:rPr lang="en-US" altLang="ko-KR" dirty="0"/>
              <a:t> Gemini </a:t>
            </a:r>
            <a:r>
              <a:rPr lang="en-US" altLang="ko-KR" dirty="0" err="1"/>
              <a:t>기능을</a:t>
            </a:r>
            <a:r>
              <a:rPr lang="en-US" altLang="ko-KR" dirty="0"/>
              <a:t> </a:t>
            </a:r>
            <a:r>
              <a:rPr lang="en-US" altLang="ko-KR" dirty="0" err="1"/>
              <a:t>포함</a:t>
            </a:r>
            <a:endParaRPr lang="en-US" altLang="ko-KR" dirty="0"/>
          </a:p>
          <a:p>
            <a:r>
              <a:rPr lang="en-US" altLang="ko-KR" dirty="0"/>
              <a:t> Firebase </a:t>
            </a:r>
            <a:r>
              <a:rPr lang="en-US" altLang="ko-KR" dirty="0" err="1"/>
              <a:t>로그인</a:t>
            </a:r>
            <a:r>
              <a:rPr lang="en-US" altLang="ko-KR" dirty="0"/>
              <a:t> </a:t>
            </a:r>
            <a:r>
              <a:rPr lang="en-US" altLang="ko-KR" dirty="0" err="1"/>
              <a:t>화면과</a:t>
            </a:r>
            <a:r>
              <a:rPr lang="en-US" altLang="ko-KR" dirty="0"/>
              <a:t> React </a:t>
            </a:r>
            <a:r>
              <a:rPr lang="en-US" altLang="ko-KR" dirty="0" err="1"/>
              <a:t>작품</a:t>
            </a:r>
            <a:r>
              <a:rPr lang="en-US" altLang="ko-KR" dirty="0"/>
              <a:t> </a:t>
            </a:r>
            <a:r>
              <a:rPr lang="en-US" altLang="ko-KR" dirty="0" err="1"/>
              <a:t>화면을</a:t>
            </a:r>
            <a:r>
              <a:rPr lang="en-US" altLang="ko-KR" dirty="0"/>
              <a:t> </a:t>
            </a:r>
            <a:r>
              <a:rPr lang="en-US" altLang="ko-KR" dirty="0" err="1"/>
              <a:t>연결하는</a:t>
            </a:r>
            <a:r>
              <a:rPr lang="en-US" altLang="ko-KR" dirty="0"/>
              <a:t> </a:t>
            </a:r>
            <a:r>
              <a:rPr lang="en-US" altLang="ko-KR" dirty="0" err="1"/>
              <a:t>방식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850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4F42-64D1-825F-0B04-ADB47EBA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7724B-10C2-754E-D024-E5DF8124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587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평가 항목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CEE53FCE-6331-0BBF-8353-1B21E1A17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627757"/>
              </p:ext>
            </p:extLst>
          </p:nvPr>
        </p:nvGraphicFramePr>
        <p:xfrm>
          <a:off x="1064712" y="1315232"/>
          <a:ext cx="10289089" cy="4546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63585">
                  <a:extLst>
                    <a:ext uri="{9D8B030D-6E8A-4147-A177-3AD203B41FA5}">
                      <a16:colId xmlns:a16="http://schemas.microsoft.com/office/drawing/2014/main" val="2432295169"/>
                    </a:ext>
                  </a:extLst>
                </a:gridCol>
                <a:gridCol w="6811087">
                  <a:extLst>
                    <a:ext uri="{9D8B030D-6E8A-4147-A177-3AD203B41FA5}">
                      <a16:colId xmlns:a16="http://schemas.microsoft.com/office/drawing/2014/main" val="3348689331"/>
                    </a:ext>
                  </a:extLst>
                </a:gridCol>
                <a:gridCol w="1014417">
                  <a:extLst>
                    <a:ext uri="{9D8B030D-6E8A-4147-A177-3AD203B41FA5}">
                      <a16:colId xmlns:a16="http://schemas.microsoft.com/office/drawing/2014/main" val="3680302945"/>
                    </a:ext>
                  </a:extLst>
                </a:gridCol>
              </a:tblGrid>
              <a:tr h="451976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평가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영역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확인할 증거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배점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742861954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기획과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목적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사용자·목적·사용 흐름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10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23015031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JSX와 데이터 표현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변수·계산식·map과 key·조건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159046416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상태와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이벤트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useState·이벤트 연결·갱신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15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2238708448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기능과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안정성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핵심 기능·결과·초기화·예외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15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4035298118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Firebase </a:t>
                      </a:r>
                      <a:r>
                        <a:rPr lang="en-US" sz="1600" dirty="0" err="1">
                          <a:effectLst/>
                        </a:rPr>
                        <a:t>인증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가입·로그인·상태 유지·로그아웃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740794144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Gemini 연동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실제 API·화면 출력·로딩·오류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15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901222106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디자인과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사용성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가독성·좁은 화면·조작 안내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10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1948258865"/>
                  </a:ext>
                </a:extLst>
              </a:tr>
              <a:tr h="451976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제출과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재현성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소스·설명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자료·설정·출처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5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3945254158"/>
                  </a:ext>
                </a:extLst>
              </a:tr>
              <a:tr h="479161"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합계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ko-KR" sz="200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9206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100</a:t>
                      </a:r>
                      <a:endParaRPr lang="ko-KR" sz="2000" dirty="0">
                        <a:solidFill>
                          <a:srgbClr val="000000"/>
                        </a:solidFill>
                        <a:effectLst/>
                        <a:latin typeface="Noto Sans CJK KR"/>
                        <a:ea typeface="Noto Sans CJK KR"/>
                        <a:cs typeface="Times New Roman" panose="02020603050405020304" pitchFamily="18" charset="0"/>
                      </a:endParaRPr>
                    </a:p>
                  </a:txBody>
                  <a:tcPr marL="53975" marR="53975" marT="53975" marB="53975" anchor="ctr"/>
                </a:tc>
                <a:extLst>
                  <a:ext uri="{0D108BD9-81ED-4DB2-BD59-A6C34878D82A}">
                    <a16:rowId xmlns:a16="http://schemas.microsoft.com/office/drawing/2014/main" val="650067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559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329</Words>
  <Application>Microsoft Office PowerPoint</Application>
  <PresentationFormat>와이드스크린</PresentationFormat>
  <Paragraphs>71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Noto Sans CJK KR</vt:lpstr>
      <vt:lpstr>맑은 고딕</vt:lpstr>
      <vt:lpstr>Arial</vt:lpstr>
      <vt:lpstr>Office 테마</vt:lpstr>
      <vt:lpstr>중간 과제</vt:lpstr>
      <vt:lpstr>인터랙티브 웹 앱 제작</vt:lpstr>
      <vt:lpstr>공통 제작 조건</vt:lpstr>
      <vt:lpstr>주제 예시</vt:lpstr>
      <vt:lpstr>평가 항목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은진 이</dc:creator>
  <cp:lastModifiedBy>은진 이</cp:lastModifiedBy>
  <cp:revision>1</cp:revision>
  <dcterms:created xsi:type="dcterms:W3CDTF">2026-10-11T14:25:04Z</dcterms:created>
  <dcterms:modified xsi:type="dcterms:W3CDTF">2026-10-11T14:37:23Z</dcterms:modified>
</cp:coreProperties>
</file>