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315" r:id="rId2"/>
    <p:sldId id="316" r:id="rId3"/>
    <p:sldId id="279" r:id="rId4"/>
    <p:sldId id="319" r:id="rId5"/>
    <p:sldId id="317" r:id="rId6"/>
    <p:sldId id="318" r:id="rId7"/>
    <p:sldId id="320" r:id="rId8"/>
    <p:sldId id="321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80" r:id="rId41"/>
    <p:sldId id="276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실습의 main.jsx와 index.html 연결 설명. root는 실제 HTML 요소의 id이고 React root는 createRoot가 반환하는 관리 객체다. root.render를 카드 클릭마다 직접 호출할 필요는 없다. useState의 상태 변경으로 React가 갱신한다.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CSR도 처음 파일을 전달하는 서버가 필요하다. 이 실습에서는 Vite 개발 서버가 파일을 제공하고 JSX를 브라우저가 실행할 수 있는 JavaScript로 변환한다. 게임 상태와 카드 비교는 브라우저에서 처리한다. 일반적인 CSR 앱은 필요에 따라 서버 API를 호출할 수 있다. 장점은 페이지 전체 새로고침 없이 상호작용할 수 있다는 점이며, 첫 화면 구성에는 JavaScript 다운로드와 실행이 필요하다. SSR로 만든 HTML에 상호작용을 연결할 때는 react-dom/client의 hydrateRoot를 사용할 수 있으므로 이 패키지가 CSR 전용이라는 뜻은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package.json은 사용하는 패키지와 실행 명령을 기록합니다. index.html은 root 요소와 진입 스크립트를 포함합니다. main.jsx는 createRoot와 render로 App을 root에 연결합니다. App.jsx는 게임 화면과 이벤트, 상태 처리를 담당하고 App.css는 디자인을 담당합니다. 이 다섯 파일은 이번 실습의 구성입니다. 프로젝트 생성 방법에 따라 추가 설정 파일이나 스타일 파일이 있을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npm 기본 설정 기준. 설치 명령은 기존 package.json을 갱신한다. package-lock.json은 같은 의존성 구성을 재현하는 데 사용한다. node_modules 내부는 수업에서 수정하지 않는다. App.jsx와 App.css의 게임 코드는 설치 명령이 자동 작성하지 않는다. 참고: https://docs.npmjs.com/cli/v11/commands/npm-install/ https://docs.npmjs.com/cli/v11/configuring-npm/package-lock-json/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package.json 코드 조각으로 전체 파일을 덮어쓰지 않는다. scripts가 이미 있으면 dev 항목을 확인한다. Local 주소는 보통 http://localhost:5173/이지만 터미널에 실제 표시된 주소를 사용한다. 서버를 켜 둔 상태에서 실습하며 Ctrl+C로 종료한다. vite를 찾을 수 없다는 오류는 실행 설정만 있고 실제 패키지가 없거나 설치가 불완전한 경우 발생할 수 있다. 설치와 실행은 package.json이 있는 memory-game 폴더에서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사용자가 제공한 컴퓨터 실행 화면. 이번 수업 범위는 정적 JSX 화면과 휴대폰 접속까지입니다.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https://react.dev/learn/writing-markup-with-jsx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  <a:p>
            <a:r>
              <a:t>Node.js가 없거나 Vite의 엔진 버전 오류가 나면 수업용 Node.js LTS 환경을 먼저 준비합니다.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  <a:p>
            <a:r>
              <a:t>React는 화면 구성, react-dom은 브라우저 렌더링, Vite는 개발 서버와 빌드를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https://react.dev/learn/writing-markup-with-jsx</a:t>
            </a:r>
          </a:p>
          <a:p>
            <a:r>
              <a:t>이번 수동 구성에서는 JSX 변환 설정 차이로 인한 오류를 줄이기 위해 React import를 포함합니다. 이모지는 Windows 키 + 마침표로 입력할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https://react.dev/learn/writing-markup-with-jsx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https://react.dev/reference/react-dom/client/createRoot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  <a:p>
            <a:r>
              <a:t>viewport 메타 태그는 휴대폰의 화면 너비를 기준으로 페이지를 표시하도록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공식 자료: https://vite.dev/guide/ 및 https://vite.dev/config/server-options#server-host</a:t>
            </a:r>
          </a:p>
          <a:p>
            <a:r>
              <a:t>localhost는 접속하는 기기 자신을 가리킵니다. 공유기별 IP 주소가 다르므로 수업 중 실제 Network 주소를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사용자가 제공한 휴대폰 실행 성공 화면. 브라우저 주소 표시줄은 주소 일부를 생략할 수 있으므로 터미널의 전체 URL을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복사할 전체 코드:</a:t>
            </a:r>
          </a:p>
          <a:p>
            <a:r>
              <a:t>import React from "react";</a:t>
            </a:r>
          </a:p>
          <a:p>
            <a:r>
              <a:t>export default function App() {</a:t>
            </a:r>
          </a:p>
          <a:p>
            <a:r>
              <a:t>  const nickname = "버그 사냥꾼";</a:t>
            </a:r>
          </a:p>
          <a:p>
            <a:r>
              <a:t>  const job = "코딩 마법사";</a:t>
            </a:r>
          </a:p>
          <a:p>
            <a:r>
              <a:t>  const attack = 80;</a:t>
            </a:r>
          </a:p>
          <a:p>
            <a:r>
              <a:t>  const defense = 50;</a:t>
            </a:r>
          </a:p>
          <a:p>
            <a:r>
              <a:t>  return (&lt;main&gt;</a:t>
            </a:r>
          </a:p>
          <a:p>
            <a:r>
              <a:t>      &lt;div&gt;&amp;#x1F9D9;&lt;/div&gt;</a:t>
            </a:r>
          </a:p>
          <a:p>
            <a:r>
              <a:t>      &lt;h1&gt;{nickname}&lt;/h1&gt;</a:t>
            </a:r>
          </a:p>
          <a:p>
            <a:r>
              <a:t>      &lt;p&gt;{job}&lt;/p&gt;</a:t>
            </a:r>
          </a:p>
          <a:p>
            <a:r>
              <a:t>      &lt;p&gt;버그를 찾아 떠나는 나의 첫 모험!&lt;/p&gt;</a:t>
            </a:r>
          </a:p>
          <a:p>
            <a:r>
              <a:t>      &lt;hr /&gt;</a:t>
            </a:r>
          </a:p>
          <a:p>
            <a:r>
              <a:t>      &lt;p&gt;공격력: {attack}&lt;/p&gt;</a:t>
            </a:r>
          </a:p>
          <a:p>
            <a:r>
              <a:t>      &lt;p&gt;방어력: {defense}&lt;/p&gt;</a:t>
            </a:r>
          </a:p>
          <a:p>
            <a:r>
              <a:t>      &lt;h2&gt;전투력: {attack + defense}&lt;/h2&gt;</a:t>
            </a:r>
          </a:p>
          <a:p>
            <a:r>
              <a:t>  &lt;/main&gt;);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CSS는 총 6부분을 순서대로 한 파일에 이어 붙입니다. 이 장 코드:</a:t>
            </a:r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endParaRPr/>
          </a:p>
          <a:p>
            <a:r>
              <a:t>완성 CSS: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min-height: 100vh;</a:t>
            </a:r>
          </a:p>
          <a:p>
            <a:r>
              <a:t>  padding: 32px 16px;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background: radial-gradient(circle at top, #293859, #101827 65%);</a:t>
            </a:r>
          </a:p>
          <a:p>
            <a:r>
              <a:t>  color: #f1f5f9;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endParaRPr/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r>
              <a:t>main {</a:t>
            </a:r>
          </a:p>
          <a:p>
            <a:r>
              <a:t>  width: 100%;</a:t>
            </a:r>
          </a:p>
          <a:p>
            <a:r>
              <a:t>  max-width: 380px;</a:t>
            </a:r>
          </a:p>
          <a:p>
            <a:r>
              <a:t>  margin: 0 auto;</a:t>
            </a:r>
          </a:p>
          <a:p>
            <a:r>
              <a:t>  padding: 32px 24px;</a:t>
            </a:r>
          </a:p>
          <a:p>
            <a:r>
              <a:t>  background: #1b273b;</a:t>
            </a:r>
          </a:p>
          <a:p>
            <a:r>
              <a:t>  border: 1px solid #384961;</a:t>
            </a:r>
          </a:p>
          <a:p>
            <a:r>
              <a:t>  border-radius: 28px;</a:t>
            </a:r>
          </a:p>
          <a:p>
            <a:r>
              <a:t>  text-align: center;</a:t>
            </a:r>
          </a:p>
          <a:p>
            <a:r>
              <a:t>  box-shadow: 0 20px 50px #00000050;</a:t>
            </a:r>
          </a:p>
          <a:p>
            <a:r>
              <a:t>}</a:t>
            </a:r>
          </a:p>
          <a:p>
            <a:endParaRPr/>
          </a:p>
          <a:p>
            <a:r>
              <a:t>main &gt; div:first-child {</a:t>
            </a:r>
          </a:p>
          <a:p>
            <a:r>
              <a:t>  display: grid;</a:t>
            </a:r>
          </a:p>
          <a:p>
            <a:r>
              <a:t>  place-items: center;</a:t>
            </a:r>
          </a:p>
          <a:p>
            <a:r>
              <a:t>  width: 112px;</a:t>
            </a:r>
          </a:p>
          <a:p>
            <a:r>
              <a:t>  height: 112px;</a:t>
            </a:r>
          </a:p>
          <a:p>
            <a:r>
              <a:t>  margin: 0 auto 24px;</a:t>
            </a:r>
          </a:p>
          <a:p>
            <a:r>
              <a:t>  background: #2a3b55;</a:t>
            </a:r>
          </a:p>
          <a:p>
            <a:r>
              <a:t>  border: 2px solid #6ee7b7;</a:t>
            </a:r>
          </a:p>
          <a:p>
            <a:r>
              <a:t>  border-radius: 50%;</a:t>
            </a:r>
          </a:p>
          <a:p>
            <a:r>
              <a:t>  font-size: 64px;</a:t>
            </a:r>
          </a:p>
          <a:p>
            <a:r>
              <a:t>}</a:t>
            </a:r>
          </a:p>
          <a:p>
            <a:endParaRPr/>
          </a:p>
          <a:p>
            <a:r>
              <a:t>h1 {</a:t>
            </a:r>
          </a:p>
          <a:p>
            <a:r>
              <a:t>  margin: 0 0 12px;</a:t>
            </a:r>
          </a:p>
          <a:p>
            <a:r>
              <a:t>  font-size: 30px;</a:t>
            </a:r>
          </a:p>
          <a:p>
            <a:r>
              <a:t>  letter-spacing: -1px;</a:t>
            </a:r>
          </a:p>
          <a:p>
            <a:r>
              <a:t>  overflow-wrap: anywhere;</a:t>
            </a:r>
          </a:p>
          <a:p>
            <a:r>
              <a:t>}</a:t>
            </a:r>
          </a:p>
          <a:p>
            <a:r>
              <a:t>main &gt; p:first-of-type {</a:t>
            </a:r>
          </a:p>
          <a:p>
            <a:r>
              <a:t>  margin: 0 0 20px;</a:t>
            </a:r>
          </a:p>
          <a:p>
            <a:r>
              <a:t>  color: #6ee7b7;</a:t>
            </a:r>
          </a:p>
          <a:p>
            <a:r>
              <a:t>  font-weight: bold;</a:t>
            </a:r>
          </a:p>
          <a:p>
            <a:r>
              <a:t>}</a:t>
            </a:r>
          </a:p>
          <a:p>
            <a:endParaRPr/>
          </a:p>
          <a:p>
            <a:r>
              <a:t>p {</a:t>
            </a:r>
          </a:p>
          <a:p>
            <a:r>
              <a:t>  margin: 14px 0;</a:t>
            </a:r>
          </a:p>
          <a:p>
            <a:r>
              <a:t>  color: #d5deeb;</a:t>
            </a:r>
          </a:p>
          <a:p>
            <a:r>
              <a:t>  font-size: 16px;</a:t>
            </a:r>
          </a:p>
          <a:p>
            <a:r>
              <a:t>  line-height: 1.7;</a:t>
            </a:r>
          </a:p>
          <a:p>
            <a:r>
              <a:t>}</a:t>
            </a:r>
          </a:p>
          <a:p>
            <a:r>
              <a:t>hr {</a:t>
            </a:r>
          </a:p>
          <a:p>
            <a:r>
              <a:t>  margin: 24px 0;</a:t>
            </a:r>
          </a:p>
          <a:p>
            <a:r>
              <a:t>  border: 0;</a:t>
            </a:r>
          </a:p>
          <a:p>
            <a:r>
              <a:t>  border-top: 1px solid #384961;</a:t>
            </a:r>
          </a:p>
          <a:p>
            <a:r>
              <a:t>}</a:t>
            </a:r>
          </a:p>
          <a:p>
            <a:endParaRPr/>
          </a:p>
          <a:p>
            <a:r>
              <a:t>h2 {</a:t>
            </a:r>
          </a:p>
          <a:p>
            <a:r>
              <a:t>  margin: 24px 0 0;</a:t>
            </a:r>
          </a:p>
          <a:p>
            <a:r>
              <a:t>  padding: 18px 12px;</a:t>
            </a:r>
          </a:p>
          <a:p>
            <a:r>
              <a:t>  background: #6ee7b7;</a:t>
            </a:r>
          </a:p>
          <a:p>
            <a:r>
              <a:t>  border-radius: 16px;</a:t>
            </a:r>
          </a:p>
          <a:p>
            <a:r>
              <a:t>  color: #102a25;</a:t>
            </a:r>
          </a:p>
          <a:p>
            <a:r>
              <a:t>  font-size: 26px;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00FE-E1D4-FD11-63FA-F0169F24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7C547-B28E-84F0-CDFD-F841580B1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B1D52-7937-AF7B-71EB-F39ADF68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사용자가 제공한 휴대폰 실행 성공 화면. 브라우저 주소 표시줄은 주소 일부를 생략할 수 있으므로 터미널의 전체 URL을 안내합니다.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1E117-1B76-9624-A0CE-5E4A5DF689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9588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코드는 화면에 보이는 다섯 줄을 모두 추가합니다. &amp;#x1F6A8;는 경광등 이모지입니다.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App.jsx 전체 코드:</a:t>
            </a:r>
          </a:p>
          <a:p>
            <a:r>
              <a:t>import React from "react";</a:t>
            </a:r>
          </a:p>
          <a:p>
            <a:r>
              <a:t>import "./App.css";</a:t>
            </a:r>
          </a:p>
          <a:p>
            <a:endParaRPr/>
          </a:p>
          <a:p>
            <a:r>
              <a:t>export default function App() {</a:t>
            </a:r>
          </a:p>
          <a:p>
            <a:r>
              <a:t>  const nickname = "버그 사냥꾼";</a:t>
            </a:r>
          </a:p>
          <a:p>
            <a:r>
              <a:t>  const job = "코딩 마법사";</a:t>
            </a:r>
          </a:p>
          <a:p>
            <a:r>
              <a:t>  const level = 7;</a:t>
            </a:r>
          </a:p>
          <a:p>
            <a:r>
              <a:t>  const attack = 80;</a:t>
            </a:r>
          </a:p>
          <a:p>
            <a:r>
              <a:t>  const defense = 50;</a:t>
            </a:r>
          </a:p>
          <a:p>
            <a:r>
              <a:t>  const hp = 30;</a:t>
            </a:r>
          </a:p>
          <a:p>
            <a:r>
              <a:t>  const maxHp = 100;</a:t>
            </a:r>
          </a:p>
          <a:p>
            <a:endParaRPr/>
          </a:p>
          <a:p>
            <a:r>
              <a:t>  return (</a:t>
            </a:r>
          </a:p>
          <a:p>
            <a:r>
              <a:t>    &lt;main className="character-card"&gt;</a:t>
            </a:r>
          </a:p>
          <a:p>
            <a:r>
              <a:t>      &lt;div className="avatar"&gt;&amp;#x1F9D9;&lt;/div&gt;</a:t>
            </a:r>
          </a:p>
          <a:p>
            <a:r>
              <a:t>      &lt;h1&gt;{nickname}&lt;/h1&gt;</a:t>
            </a:r>
          </a:p>
          <a:p>
            <a:r>
              <a:t>      &lt;p className="job"&gt;Lv. {level} · {job}&lt;/p&gt;</a:t>
            </a:r>
          </a:p>
          <a:p>
            <a:r>
              <a:t>      &lt;hr /&gt;</a:t>
            </a:r>
          </a:p>
          <a:p>
            <a:r>
              <a:t>      &lt;p&gt;&amp;#x2694;&amp;#xFE0F; 공격력: {attack}&lt;/p&gt;</a:t>
            </a:r>
          </a:p>
          <a:p>
            <a:r>
              <a:t>      &lt;p&gt;&amp;#x1F6E1;&amp;#xFE0F; 방어력: {defense}&lt;/p&gt;</a:t>
            </a:r>
          </a:p>
          <a:p>
            <a:r>
              <a:t>      &lt;h2&gt;&amp;#x1F525; 전투력: {attack + defense}&lt;/h2&gt;</a:t>
            </a:r>
          </a:p>
          <a:p>
            <a:r>
              <a:t>      &lt;p&gt;&amp;#x1F497; 체력: {hp} / {maxHp}&lt;/p&gt;</a:t>
            </a:r>
          </a:p>
          <a:p>
            <a:endParaRPr/>
          </a:p>
          <a:p>
            <a:r>
              <a:t>      &lt;div className="hp-bar"&gt;</a:t>
            </a:r>
          </a:p>
          <a:p>
            <a:r>
              <a:t>        &lt;div</a:t>
            </a:r>
          </a:p>
          <a:p>
            <a:r>
              <a:t>          className="hp-fill"</a:t>
            </a:r>
          </a:p>
          <a:p>
            <a:r>
              <a:t>          style={{ width: `${(hp / maxHp) * 100}%` }}</a:t>
            </a:r>
          </a:p>
          <a:p>
            <a:r>
              <a:t>        /&gt;</a:t>
            </a:r>
          </a:p>
          <a:p>
            <a:r>
              <a:t>      &lt;/div&gt;</a:t>
            </a:r>
          </a:p>
          <a:p>
            <a:r>
              <a:t>      {hp &lt;= 30 &amp;&amp; (</a:t>
            </a:r>
          </a:p>
          <a:p>
            <a:r>
              <a:t>        &lt;p className="warning"&gt;&amp;#x1F6A8; 물약이 필요해요!&lt;/p&gt;</a:t>
            </a:r>
          </a:p>
          <a:p>
            <a:r>
              <a:t>      )}</a:t>
            </a:r>
          </a:p>
          <a:p>
            <a:r>
              <a:t>    &lt;/main&gt;</a:t>
            </a:r>
          </a:p>
          <a:p>
            <a:r>
              <a:t>  );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App.jsx 전체 코드:</a:t>
            </a:r>
          </a:p>
          <a:p>
            <a:r>
              <a:t>import React from "react";</a:t>
            </a:r>
          </a:p>
          <a:p>
            <a:r>
              <a:t>import "./App.css";</a:t>
            </a:r>
          </a:p>
          <a:p>
            <a:endParaRPr/>
          </a:p>
          <a:p>
            <a:r>
              <a:t>export default function App() {</a:t>
            </a:r>
          </a:p>
          <a:p>
            <a:r>
              <a:t>  const nickname = "버그 사냥꾼";</a:t>
            </a:r>
          </a:p>
          <a:p>
            <a:r>
              <a:t>  const job = "코딩 마법사";</a:t>
            </a:r>
          </a:p>
          <a:p>
            <a:r>
              <a:t>  const level = 7;</a:t>
            </a:r>
          </a:p>
          <a:p>
            <a:r>
              <a:t>  const attack = 80;</a:t>
            </a:r>
          </a:p>
          <a:p>
            <a:r>
              <a:t>  const defense = 50;</a:t>
            </a:r>
          </a:p>
          <a:p>
            <a:r>
              <a:t>  const hp = 30;</a:t>
            </a:r>
          </a:p>
          <a:p>
            <a:r>
              <a:t>  const maxHp = 100;</a:t>
            </a:r>
          </a:p>
          <a:p>
            <a:endParaRPr/>
          </a:p>
          <a:p>
            <a:r>
              <a:t>  return (</a:t>
            </a:r>
          </a:p>
          <a:p>
            <a:r>
              <a:t>    &lt;main className="character-card"&gt;</a:t>
            </a:r>
          </a:p>
          <a:p>
            <a:r>
              <a:t>      &lt;div className="avatar"&gt;&amp;#x1F9D9;&lt;/div&gt;</a:t>
            </a:r>
          </a:p>
          <a:p>
            <a:r>
              <a:t>      &lt;h1&gt;{nickname}&lt;/h1&gt;</a:t>
            </a:r>
          </a:p>
          <a:p>
            <a:r>
              <a:t>      &lt;p className="job"&gt;Lv. {level} · {job}&lt;/p&gt;</a:t>
            </a:r>
          </a:p>
          <a:p>
            <a:r>
              <a:t>      &lt;hr /&gt;</a:t>
            </a:r>
          </a:p>
          <a:p>
            <a:r>
              <a:t>      &lt;p&gt;&amp;#x2694;&amp;#xFE0F; 공격력: {attack}&lt;/p&gt;</a:t>
            </a:r>
          </a:p>
          <a:p>
            <a:r>
              <a:t>      &lt;p&gt;&amp;#x1F6E1;&amp;#xFE0F; 방어력: {defense}&lt;/p&gt;</a:t>
            </a:r>
          </a:p>
          <a:p>
            <a:r>
              <a:t>      &lt;h2&gt;&amp;#x1F525; 전투력: {attack + defense}&lt;/h2&gt;</a:t>
            </a:r>
          </a:p>
          <a:p>
            <a:r>
              <a:t>      &lt;p&gt;&amp;#x1F497; 체력: {hp} / {maxHp}&lt;/p&gt;</a:t>
            </a:r>
          </a:p>
          <a:p>
            <a:endParaRPr/>
          </a:p>
          <a:p>
            <a:r>
              <a:t>      &lt;div className="hp-bar"&gt;</a:t>
            </a:r>
          </a:p>
          <a:p>
            <a:r>
              <a:t>        &lt;div</a:t>
            </a:r>
          </a:p>
          <a:p>
            <a:r>
              <a:t>          className="hp-fill"</a:t>
            </a:r>
          </a:p>
          <a:p>
            <a:r>
              <a:t>          style={{ width: `${(hp / maxHp) * 100}%` }}</a:t>
            </a:r>
          </a:p>
          <a:p>
            <a:r>
              <a:t>        /&gt;</a:t>
            </a:r>
          </a:p>
          <a:p>
            <a:r>
              <a:t>      &lt;/div&gt;</a:t>
            </a:r>
          </a:p>
          <a:p>
            <a:r>
              <a:t>      {hp &lt;= 30 &amp;&amp; (</a:t>
            </a:r>
          </a:p>
          <a:p>
            <a:r>
              <a:t>        &lt;p className="warning"&gt;&amp;#x1F6A8; 물약이 필요해요!&lt;/p&gt;</a:t>
            </a:r>
          </a:p>
          <a:p>
            <a:r>
              <a:t>      )}</a:t>
            </a:r>
          </a:p>
          <a:p>
            <a:r>
              <a:t>    &lt;/main&gt;</a:t>
            </a:r>
          </a:p>
          <a:p>
            <a:r>
              <a:t>  );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App.jsx 전체 코드:</a:t>
            </a:r>
          </a:p>
          <a:p>
            <a:r>
              <a:t>import React from "react";</a:t>
            </a:r>
          </a:p>
          <a:p>
            <a:r>
              <a:t>import "./App.css";</a:t>
            </a:r>
          </a:p>
          <a:p>
            <a:endParaRPr/>
          </a:p>
          <a:p>
            <a:r>
              <a:t>export default function App() {</a:t>
            </a:r>
          </a:p>
          <a:p>
            <a:r>
              <a:t>  const nickname = "버그 사냥꾼";</a:t>
            </a:r>
          </a:p>
          <a:p>
            <a:r>
              <a:t>  const job = "코딩 마법사";</a:t>
            </a:r>
          </a:p>
          <a:p>
            <a:r>
              <a:t>  const level = 7;</a:t>
            </a:r>
          </a:p>
          <a:p>
            <a:r>
              <a:t>  const attack = 80;</a:t>
            </a:r>
          </a:p>
          <a:p>
            <a:r>
              <a:t>  const defense = 50;</a:t>
            </a:r>
          </a:p>
          <a:p>
            <a:r>
              <a:t>  const hp = 30;</a:t>
            </a:r>
          </a:p>
          <a:p>
            <a:r>
              <a:t>  const maxHp = 100;</a:t>
            </a:r>
          </a:p>
          <a:p>
            <a:endParaRPr/>
          </a:p>
          <a:p>
            <a:r>
              <a:t>  return (</a:t>
            </a:r>
          </a:p>
          <a:p>
            <a:r>
              <a:t>    &lt;main className="character-card"&gt;</a:t>
            </a:r>
          </a:p>
          <a:p>
            <a:r>
              <a:t>      &lt;div className="avatar"&gt;&amp;#x1F9D9;&lt;/div&gt;</a:t>
            </a:r>
          </a:p>
          <a:p>
            <a:r>
              <a:t>      &lt;h1&gt;{nickname}&lt;/h1&gt;</a:t>
            </a:r>
          </a:p>
          <a:p>
            <a:r>
              <a:t>      &lt;p className="job"&gt;Lv. {level} · {job}&lt;/p&gt;</a:t>
            </a:r>
          </a:p>
          <a:p>
            <a:r>
              <a:t>      &lt;hr /&gt;</a:t>
            </a:r>
          </a:p>
          <a:p>
            <a:r>
              <a:t>      &lt;p&gt;&amp;#x2694;&amp;#xFE0F; 공격력: {attack}&lt;/p&gt;</a:t>
            </a:r>
          </a:p>
          <a:p>
            <a:r>
              <a:t>      &lt;p&gt;&amp;#x1F6E1;&amp;#xFE0F; 방어력: {defense}&lt;/p&gt;</a:t>
            </a:r>
          </a:p>
          <a:p>
            <a:r>
              <a:t>      &lt;h2&gt;&amp;#x1F525; 전투력: {attack + defense}&lt;/h2&gt;</a:t>
            </a:r>
          </a:p>
          <a:p>
            <a:r>
              <a:t>      &lt;p&gt;&amp;#x1F497; 체력: {hp} / {maxHp}&lt;/p&gt;</a:t>
            </a:r>
          </a:p>
          <a:p>
            <a:endParaRPr/>
          </a:p>
          <a:p>
            <a:r>
              <a:t>      &lt;div className="hp-bar"&gt;</a:t>
            </a:r>
          </a:p>
          <a:p>
            <a:r>
              <a:t>        &lt;div</a:t>
            </a:r>
          </a:p>
          <a:p>
            <a:r>
              <a:t>          className="hp-fill"</a:t>
            </a:r>
          </a:p>
          <a:p>
            <a:r>
              <a:t>          style={{ width: `${(hp / maxHp) * 100}%` }}</a:t>
            </a:r>
          </a:p>
          <a:p>
            <a:r>
              <a:t>        /&gt;</a:t>
            </a:r>
          </a:p>
          <a:p>
            <a:r>
              <a:t>      &lt;/div&gt;</a:t>
            </a:r>
          </a:p>
          <a:p>
            <a:r>
              <a:t>      {hp &lt;= 30 &amp;&amp; (</a:t>
            </a:r>
          </a:p>
          <a:p>
            <a:r>
              <a:t>        &lt;p className="warning"&gt;&amp;#x1F6A8; 물약이 필요해요!&lt;/p&gt;</a:t>
            </a:r>
          </a:p>
          <a:p>
            <a:r>
              <a:t>      )}</a:t>
            </a:r>
          </a:p>
          <a:p>
            <a:r>
              <a:t>    &lt;/main&gt;</a:t>
            </a:r>
          </a:p>
          <a:p>
            <a:r>
              <a:t>  );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App.css 전체 코드:</a:t>
            </a:r>
          </a:p>
          <a:p>
            <a:r>
              <a:t>* {</a:t>
            </a:r>
          </a:p>
          <a:p>
            <a:r>
              <a:t>  box-sizing: border-box;</a:t>
            </a:r>
          </a:p>
          <a:p>
            <a:r>
              <a:t>}</a:t>
            </a:r>
          </a:p>
          <a:p>
            <a:r>
              <a:t>body {</a:t>
            </a:r>
          </a:p>
          <a:p>
            <a:r>
              <a:t>  margin: 0;</a:t>
            </a:r>
          </a:p>
          <a:p>
            <a:r>
              <a:t>  padding: 12px;</a:t>
            </a:r>
          </a:p>
          <a:p>
            <a:r>
              <a:t>  background: white;</a:t>
            </a:r>
          </a:p>
          <a:p>
            <a:r>
              <a:t>  color: white;</a:t>
            </a:r>
          </a:p>
          <a:p>
            <a:r>
              <a:t>  font-family: "Malgun Gothic", sans-serif;</a:t>
            </a:r>
          </a:p>
          <a:p>
            <a:r>
              <a:t>}</a:t>
            </a:r>
          </a:p>
          <a:p>
            <a:r>
              <a:t>#root {</a:t>
            </a:r>
          </a:p>
          <a:p>
            <a:r>
              <a:t>  width: 100%;</a:t>
            </a:r>
          </a:p>
          <a:p>
            <a:r>
              <a:t>}</a:t>
            </a:r>
          </a:p>
          <a:p>
            <a:endParaRPr/>
          </a:p>
          <a:p>
            <a:r>
              <a:t>.character-card {</a:t>
            </a:r>
          </a:p>
          <a:p>
            <a:r>
              <a:t>  width: 100%;</a:t>
            </a:r>
          </a:p>
          <a:p>
            <a:r>
              <a:t>  max-width: 490px;</a:t>
            </a:r>
          </a:p>
          <a:p>
            <a:r>
              <a:t>  margin: 0 auto;</a:t>
            </a:r>
          </a:p>
          <a:p>
            <a:r>
              <a:t>  padding: 48px 38px;</a:t>
            </a:r>
          </a:p>
          <a:p>
            <a:r>
              <a:t>  border-radius: 32px;</a:t>
            </a:r>
          </a:p>
          <a:p>
            <a:r>
              <a:t>  background: #192436;</a:t>
            </a:r>
          </a:p>
          <a:p>
            <a:r>
              <a:t>  text-align: center;</a:t>
            </a:r>
          </a:p>
          <a:p>
            <a:r>
              <a:t>}</a:t>
            </a:r>
          </a:p>
          <a:p>
            <a:r>
              <a:t>.avatar {</a:t>
            </a:r>
          </a:p>
          <a:p>
            <a:r>
              <a:t>  margin-bottom: 32px;</a:t>
            </a:r>
          </a:p>
          <a:p>
            <a:r>
              <a:t>  font-size: 90px;</a:t>
            </a:r>
          </a:p>
          <a:p>
            <a:r>
              <a:t>  line-height: 1.3;</a:t>
            </a:r>
          </a:p>
          <a:p>
            <a:r>
              <a:t>}</a:t>
            </a:r>
          </a:p>
          <a:p>
            <a:endParaRPr/>
          </a:p>
          <a:p>
            <a:r>
              <a:t>.character-card h1 {</a:t>
            </a:r>
          </a:p>
          <a:p>
            <a:r>
              <a:t>  margin: 0 0 34px;</a:t>
            </a:r>
          </a:p>
          <a:p>
            <a:r>
              <a:t>  font-size: 40px;</a:t>
            </a:r>
          </a:p>
          <a:p>
            <a:r>
              <a:t>  letter-spacing: -1px;</a:t>
            </a:r>
          </a:p>
          <a:p>
            <a:r>
              <a:t>}</a:t>
            </a:r>
          </a:p>
          <a:p>
            <a:r>
              <a:t>.character-card p {</a:t>
            </a:r>
          </a:p>
          <a:p>
            <a:r>
              <a:t>  margin: 20px 0;</a:t>
            </a:r>
          </a:p>
          <a:p>
            <a:r>
              <a:t>  font-size: 22px;</a:t>
            </a:r>
          </a:p>
          <a:p>
            <a:r>
              <a:t>  line-height: 1.5;</a:t>
            </a:r>
          </a:p>
          <a:p>
            <a:r>
              <a:t>}</a:t>
            </a:r>
          </a:p>
          <a:p>
            <a:r>
              <a:t>.character-card .job {</a:t>
            </a:r>
          </a:p>
          <a:p>
            <a:r>
              <a:t>  margin-bottom: 20px;</a:t>
            </a:r>
          </a:p>
          <a:p>
            <a:r>
              <a:t>}</a:t>
            </a:r>
          </a:p>
          <a:p>
            <a:endParaRPr/>
          </a:p>
          <a:p>
            <a:r>
              <a:t>.character-card hr {</a:t>
            </a:r>
          </a:p>
          <a:p>
            <a:r>
              <a:t>  margin: 20px 0;</a:t>
            </a:r>
          </a:p>
          <a:p>
            <a:r>
              <a:t>  border: 0;</a:t>
            </a:r>
          </a:p>
          <a:p>
            <a:r>
              <a:t>  border-top: 1px solid #999;</a:t>
            </a:r>
          </a:p>
          <a:p>
            <a:r>
              <a:t>}</a:t>
            </a:r>
          </a:p>
          <a:p>
            <a:r>
              <a:t>.character-card h2 {</a:t>
            </a:r>
          </a:p>
          <a:p>
            <a:r>
              <a:t>  margin: 28px 0;</a:t>
            </a:r>
          </a:p>
          <a:p>
            <a:r>
              <a:t>  font-size: 34px;</a:t>
            </a:r>
          </a:p>
          <a:p>
            <a:r>
              <a:t>}</a:t>
            </a:r>
          </a:p>
          <a:p>
            <a:endParaRPr/>
          </a:p>
          <a:p>
            <a:r>
              <a:t>.hp-bar {</a:t>
            </a:r>
          </a:p>
          <a:p>
            <a:r>
              <a:t>  width: 220px;</a:t>
            </a:r>
          </a:p>
          <a:p>
            <a:r>
              <a:t>  max-width: 100%;</a:t>
            </a:r>
          </a:p>
          <a:p>
            <a:r>
              <a:t>  height: 22px;</a:t>
            </a:r>
          </a:p>
          <a:p>
            <a:r>
              <a:t>  margin: 24px auto 28px;</a:t>
            </a:r>
          </a:p>
          <a:p>
            <a:r>
              <a:t>  background: #808080;</a:t>
            </a:r>
          </a:p>
          <a:p>
            <a:r>
              <a:t>  overflow: hidden;</a:t>
            </a:r>
          </a:p>
          <a:p>
            <a:r>
              <a:t>}</a:t>
            </a:r>
          </a:p>
          <a:p>
            <a:r>
              <a:t>.hp-fill {</a:t>
            </a:r>
          </a:p>
          <a:p>
            <a:r>
              <a:t>  height: 100%;</a:t>
            </a:r>
          </a:p>
          <a:p>
            <a:r>
              <a:t>  background: #008000;</a:t>
            </a:r>
          </a:p>
          <a:p>
            <a:r>
              <a:t>}</a:t>
            </a:r>
          </a:p>
          <a:p>
            <a:endParaRPr/>
          </a:p>
          <a:p>
            <a:r>
              <a:t>.character-card .warning {</a:t>
            </a:r>
          </a:p>
          <a:p>
            <a:r>
              <a:t>  margin: 28px 0 10px;</a:t>
            </a:r>
          </a:p>
          <a:p>
            <a:r>
              <a:t>}</a:t>
            </a:r>
          </a:p>
          <a:p>
            <a:r>
              <a:t>@media (max-width: 400px) {</a:t>
            </a:r>
          </a:p>
          <a:p>
            <a:r>
              <a:t>  .character-card {</a:t>
            </a:r>
          </a:p>
          <a:p>
            <a:r>
              <a:t>    padding: 36px 20px;</a:t>
            </a:r>
          </a:p>
          <a:p>
            <a:r>
              <a:t>  }</a:t>
            </a:r>
          </a:p>
          <a:p>
            <a:r>
              <a:t>  .character-card h1 {</a:t>
            </a:r>
          </a:p>
          <a:p>
            <a:r>
              <a:t>    font-size: 32px;</a:t>
            </a:r>
          </a:p>
          <a:p>
            <a:r>
              <a:t>  }</a:t>
            </a:r>
          </a:p>
          <a:p>
            <a:r>
              <a:t>  .character-card h2 {</a:t>
            </a:r>
          </a:p>
          <a:p>
            <a:r>
              <a:t>    font-size: 28px;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참고: https://react.dev/learn/javascript-in-jsx-with-curly-braces</a:t>
            </a:r>
          </a:p>
          <a:p>
            <a:r>
              <a:t>https://react.dev/learn/conditional-rendering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61B715-AC3F-4E91-91C5-E2BB451B8E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React 웹 앱 · 브라우저에 화면 연결하기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F7F999-9163-4536-A36D-91996F6471D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react-dom/client의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526B8C-8513-45CB-AAEB-3F84B755B74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5D8195-4EB8-48AE-8770-2C34C5175448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React가 정의한 화면을 브라우저의 실제 DOM에 표시하고 갱신하는 기능입니다.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46CC22-C05F-42D4-ABAD-9F65CF476767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① index.html: 화면이 들어갈 공간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402F2E-AC65-4803-8FF6-33C292166F66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5334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&lt;div id="root"&gt;&lt;/div&gt;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D26992-6986-4BDF-8C25-E340640EFA6E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② main.jsx: App을 root에 연결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2D8288-6E63-47EB-A4C1-30B2509E98C7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createRoot: React가 관리할 루트를 생성</a:t>
            </a:r>
          </a:p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root.render: 그 루트에 App 화면을 표시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787C31-9E93-446F-B0B6-D94A14E079CF}"/>
              </a:ext>
            </a:extLst>
          </p:cNvPr>
          <p:cNvSpPr>
            <a:spLocks noGrp="1"/>
          </p:cNvSpPr>
          <p:nvPr/>
        </p:nvSpPr>
        <p:spPr>
          <a:xfrm>
            <a:off x="6334125" y="2476500"/>
            <a:ext cx="514350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import { createRoot }</a:t>
            </a: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 from "react-dom/client";</a:t>
            </a: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import App from "./App.jsx";</a:t>
            </a:r>
          </a:p>
          <a:p>
            <a:endParaRPr sz="1725" b="0">
              <a:solidFill>
                <a:srgbClr val="6FE2C4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const container =</a:t>
            </a: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 document.getElementById("root");</a:t>
            </a: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const root = createRoot(container);</a:t>
            </a:r>
          </a:p>
          <a:p>
            <a:pPr>
              <a:def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root.render(&lt;App /&gt;);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FE08CD-0E21-4176-82D4-BDB411DF523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react는 컴포넌트·상태 같은 공통 기능, react-dom/client는 브라우저 DOM 연결을 담당해요.</a:t>
            </a:r>
          </a:p>
        </p:txBody>
      </p:sp>
    </p:spTree>
    <p:extLst>
      <p:ext uri="{BB962C8B-B14F-4D97-AF65-F5344CB8AC3E}">
        <p14:creationId xmlns:p14="http://schemas.microsoft.com/office/powerpoint/2010/main" val="39561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E6F4739-6D14-4145-A50A-314ABC43E1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Client-Side Rendering · 우리 카드 게임의 실행 과정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353CD6-1EF7-4141-85FA-617D93D305C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CSR: 브라우저에서 화면 만들기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6D5C51-47C8-4E5A-AA4D-05699A4B834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F37AED-9DBB-4213-A951-337E7595D5B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서버가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전달한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JavaScript를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브라우저에서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실행해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게임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화면을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구성합니다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7081F2-A742-456D-A4BE-D71FF9F2CFFC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처음 접속했을 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884D92-9329-41EE-839D-4E5A40A38569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514350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서버에서 HTML과 JavaScript를 받음</a:t>
            </a:r>
          </a:p>
          <a:p>
            <a:endParaRPr sz="18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2. 브라우저가 main.jsx에서 시작한</a:t>
            </a: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  JavaScript 코드를 실행</a:t>
            </a:r>
          </a:p>
          <a:p>
            <a:endParaRPr sz="187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3. React가 App을 렌더링하고</a:t>
            </a: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  root 안에 카드·점수판 DOM을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6E102E-971B-4525-9D7F-DFCC42557C96}"/>
              </a:ext>
            </a:extLst>
          </p:cNvPr>
          <p:cNvSpPr>
            <a:spLocks noGrp="1"/>
          </p:cNvSpPr>
          <p:nvPr/>
        </p:nvSpPr>
        <p:spPr>
          <a:xfrm>
            <a:off x="6334125" y="233362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카드를 터치했을 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CE6FB9-78C2-43BC-9271-F977EA03A329}"/>
              </a:ext>
            </a:extLst>
          </p:cNvPr>
          <p:cNvSpPr>
            <a:spLocks noGrp="1"/>
          </p:cNvSpPr>
          <p:nvPr/>
        </p:nvSpPr>
        <p:spPr>
          <a:xfrm>
            <a:off x="6334125" y="2905125"/>
            <a:ext cx="504825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onClick으로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클릭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함수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실행</a:t>
            </a:r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2.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useState로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선택한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번호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변경</a:t>
            </a:r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3.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React가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새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화면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결과를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계산하고</a:t>
            </a:r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 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필요한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DOM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변경을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반영</a:t>
            </a:r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4.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카드의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?가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그림으로</a:t>
            </a:r>
            <a:r>
              <a:rPr sz="18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바뀜</a:t>
            </a:r>
            <a:endParaRPr sz="1875" b="0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46F295-55F3-4B3F-AC8B-BF54FEE7B16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카드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선택마다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새 HTML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페이지를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받지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않아요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.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휴대폰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브라우저에서도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같은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 CSR 웹 </a:t>
            </a:r>
            <a:r>
              <a:rPr sz="1650" b="0" dirty="0" err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앱이에요</a:t>
            </a:r>
            <a:r>
              <a:rPr sz="1650" b="0" dirty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C57BDE-5017-4EA9-CF48-C0B371D2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68" y="1732051"/>
            <a:ext cx="3866400" cy="35382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2825CD-511B-3A3D-A5FC-7BB82FB8E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54"/>
          <a:stretch>
            <a:fillRect/>
          </a:stretch>
        </p:blipFill>
        <p:spPr>
          <a:xfrm>
            <a:off x="7240568" y="3757352"/>
            <a:ext cx="3866400" cy="3519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DA3732-CB87-A2E5-38FD-EDD45F81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54"/>
          <a:stretch>
            <a:fillRect/>
          </a:stretch>
        </p:blipFill>
        <p:spPr>
          <a:xfrm>
            <a:off x="7240568" y="1997825"/>
            <a:ext cx="3866400" cy="35190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B58FD-8C51-C196-B956-4BCB34FD5FD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2_2 JSX </a:t>
            </a:r>
            <a:r>
              <a:rPr lang="ko-KR" altLang="en-US"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구문 이해하기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A40ACF-F449-27EA-51A1-5C90C406D553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016683" cy="107182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는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JavaScript 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코드 안에서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HTML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과 비슷한 모양으로 화면을 작성하는 문법</a:t>
            </a:r>
            <a:endParaRPr sz="2175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4082F3-EC7F-154A-817F-B58026C197B5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ko-KR" sz="3300" b="1" dirty="0" err="1">
                <a:solidFill>
                  <a:srgbClr val="F3F6FB"/>
                </a:solidFill>
                <a:latin typeface="Noto Sans CJK KR"/>
              </a:rPr>
              <a:t>JSX가</a:t>
            </a:r>
            <a:r>
              <a:rPr lang="ko-KR" altLang="ko-KR" sz="3300" b="1" dirty="0">
                <a:solidFill>
                  <a:srgbClr val="F3F6FB"/>
                </a:solidFill>
                <a:latin typeface="Noto Sans CJK KR"/>
              </a:rPr>
              <a:t> 실제 화면이 되는 과정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4B0687-2C52-187B-9323-50788D03619E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6016683" cy="107182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브라우저는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를 그대로 실행하지 못함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. </a:t>
            </a:r>
          </a:p>
          <a:p>
            <a:pPr>
              <a:lnSpc>
                <a:spcPct val="150000"/>
              </a:lnSpc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프로젝트에서는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Vite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가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를 브라우저에서 실행할 수 있는 </a:t>
            </a:r>
            <a:r>
              <a:rPr lang="en-US" altLang="ko-KR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JavaScript</a:t>
            </a:r>
            <a:r>
              <a:rPr lang="ko-KR" altLang="en-US" sz="2175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로 변환</a:t>
            </a:r>
            <a:endParaRPr sz="2175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394315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5E31C83-AB27-41D4-9AB9-74A514EC20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React 프로젝트 구조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481885-90C0-41E0-83D9-171DD6F848C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메모리 게임을 구성하는 5개 파일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91BD1D-C155-499C-AE0B-D0A0AED9795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66750" y="1714500"/>
          <a:ext cx="10763250" cy="39052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게임에서 하는 일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package.json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프로젝트 실행 설정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필요한 React·Vite와</a:t>
                      </a:r>
                    </a:p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npm run dev 실행 명령 관리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index.html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브라우저가 여는 웹페이지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게임 화면을 넣을</a:t>
                      </a:r>
                    </a:p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&lt;div id="root"&gt; 공간 준비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src/main.jsx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React와 웹페이지 연결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App을 root 공간에 표시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src/App.jsx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게임 화면과 동작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카드 표시, 클릭, 짝 비교,</a:t>
                      </a:r>
                    </a:p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점수, 다시 시작 처리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src/App.css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 디자인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배경색, 카드 크기, 배치,</a:t>
                      </a:r>
                    </a:p>
                    <a:p>
                      <a:r>
                        <a:rPr sz="1800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버튼 모양 설정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7E06E2D3-E2B9-4A7D-8413-3CBB070C589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실습에서는 App.jsx로 게임 기능을 만들고, App.css로 화면을 꾸며요.</a:t>
            </a:r>
          </a:p>
        </p:txBody>
      </p:sp>
    </p:spTree>
    <p:extLst>
      <p:ext uri="{BB962C8B-B14F-4D97-AF65-F5344CB8AC3E}">
        <p14:creationId xmlns:p14="http://schemas.microsoft.com/office/powerpoint/2010/main" val="208181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EFA4264-6A34-4E2E-A33D-F99C5759F9A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memory-game/package.json  /  전체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87755E-5B9F-4B60-A802-FCD2B1B689E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package.json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DF672E-7893-4248-B73F-5EB6BB5DD2C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EBDDB1-85F5-408F-B250-F09044F27BF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"name": "</a:t>
            </a:r>
            <a:r>
              <a:rPr lang="ko-KR" altLang="ko-KR" sz="2100" dirty="0" err="1">
                <a:solidFill>
                  <a:srgbClr val="D6F4EB"/>
                </a:solidFill>
                <a:latin typeface="Noto Sans CJK KR"/>
              </a:rPr>
              <a:t>hello-app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"version": "1.0.0",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"private": true,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"type": "module",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"scripts": {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"dev": "</a:t>
            </a:r>
            <a:r>
              <a:rPr sz="21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vite</a:t>
            </a: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"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C8A578-FF77-4C2F-9780-60C95ECBF97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입력 후 Ctrl + S로 저장해요. JSON에는 주석을 넣지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68815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55C2DFF-C235-47F4-9D2B-2FAC1A60F43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모바일 메모리 게임 · 1단계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474042-4521-48EE-A93D-3D63B3682ED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React와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Vite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설치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BB526E-9CAE-406A-A83B-209E969F736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8E0B3F-0418-4A38-BA6A-B228E127324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터미널 </a:t>
            </a:r>
            <a:r>
              <a:rPr lang="en-US" altLang="ko-KR"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– </a:t>
            </a:r>
            <a:r>
              <a:rPr lang="ko-KR" altLang="en-US"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새터미널</a:t>
            </a:r>
            <a:endParaRPr lang="en-US" altLang="ko-KR"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endParaRPr lang="en-US"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install react react-</a:t>
            </a: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dom</a:t>
            </a:r>
            <a:endParaRPr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endParaRPr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install -D </a:t>
            </a: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vite</a:t>
            </a:r>
            <a:endParaRPr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93918-DFF8-48D1-BE67-914747CBF4C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memory-game 터미널에서 한 줄씩 실행해요. 설치가 끝난 뒤 다음 명령을 입력해요.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7A6158-012F-CD36-04D5-6980B756C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07" y="1714500"/>
            <a:ext cx="4610793" cy="346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6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A838297-8BE0-491A-A745-D52646F4D94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02  프로젝트 구조의 변화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AFCCAF-4823-44B6-81DA-A3C67860D0E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설치 후 자동으로 생기는 파일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5991BA-6B03-489F-9F56-20C12CE6F98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DA666B-BAED-415F-BFB8-7AB6E91B1B8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npm이 패키지를 내려받고, 설치 정보를 프로젝트에 기록해요.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66750" y="2286000"/>
          <a:ext cx="10763250" cy="32385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설치 후 변화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FE2C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쉽게 이해하기</a:t>
                      </a:r>
                    </a:p>
                  </a:txBody>
                  <a:tcPr>
                    <a:solidFill>
                      <a:srgbClr val="203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package.json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패키지 이름과 버전 범위 추가</a:t>
                      </a:r>
                    </a:p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React: dependencies</a:t>
                      </a:r>
                    </a:p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Vite: devDependencies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준비물 목록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package-lock.json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정확한 설치 버전과</a:t>
                      </a:r>
                    </a:p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패키지 의존 관계 자동 기록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준비한 물품의</a:t>
                      </a:r>
                    </a:p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상세 명세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node_modules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React·Vite와 필요한</a:t>
                      </a:r>
                    </a:p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다른 패키지의 실제 코드 저장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3F6F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준비물</a:t>
                      </a:r>
                    </a:p>
                  </a:txBody>
                  <a:tcPr>
                    <a:solidFill>
                      <a:srgbClr val="17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83BD6D1-9F28-437C-9D3E-DAC7A8FE742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node_modules와 package-lock.json은 직접 작성하지 않아도 됩니다.</a:t>
            </a:r>
          </a:p>
        </p:txBody>
      </p:sp>
    </p:spTree>
    <p:extLst>
      <p:ext uri="{BB962C8B-B14F-4D97-AF65-F5344CB8AC3E}">
        <p14:creationId xmlns:p14="http://schemas.microsoft.com/office/powerpoint/2010/main" val="14382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33C6C1-A389-4EB8-BD89-78D7BB6464F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03  실행 설정과 실행 명령의 연결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F0CFBE-6697-4369-9241-630964F2B39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설치한 Vite로 게임 실행하기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10CEEB-9A46-4C3E-8957-63AF9099405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EFE556-A0E9-44DB-B8E8-7B3DED67BB8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① package.json에서 실행 설정 확인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7318FC-7310-44FB-AF03-7CE4DEA8C495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085850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"scripts": {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"dev": "vite"</a:t>
            </a:r>
          </a:p>
          <a:p>
            <a:pPr>
              <a:def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3BF9FF-6510-4A4F-8B31-D369B59B187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위 코드는 package.json의 일부예요. 기존 scripts 설정을 확인하세요.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A1AD3E-A709-47AC-8B23-5A81206894F0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② 같은 프로젝트 터미널에서 실행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A820C3-93BD-4C51-AF85-208059C33E25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D0CB2B-CAA3-42CC-BCC9-3C62FF4C3584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dev에 연결된 vite가 실행돼요. 터미널의 Local 주소를 브라우저에서 여세요.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3427A9-6178-40CB-BE73-48D1978EB7E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설치는 필요한 도구를 준비하는 작업, 실행은 개발 서버를 켜는 작업이에요.</a:t>
            </a:r>
          </a:p>
        </p:txBody>
      </p:sp>
    </p:spTree>
    <p:extLst>
      <p:ext uri="{BB962C8B-B14F-4D97-AF65-F5344CB8AC3E}">
        <p14:creationId xmlns:p14="http://schemas.microsoft.com/office/powerpoint/2010/main" val="1542164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AD2F63B-4788-4A4A-B849-6F8A5198EC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02-2 · React 따라 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C9456C-BA8A-4C43-B917-6BC8BF9673C8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JSX로 만드는</a:t>
            </a:r>
          </a:p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나의 첫 캐릭터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60CB6F-3D27-4229-A9CE-EEA9A81D84E5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74FA39-6EE4-4944-8DFD-688C47AD76F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프로젝트 준비부터 휴대폰 접속까지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299B32-A450-486A-B3F9-6ADE5B7B8AA3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Windows · VS Code · React + Vite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CE0D44-C0AD-4C8D-B4E3-3EA6420BADEC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실습 1단계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355F89-9062-EE48-3331-67F9DA498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853" y="266700"/>
            <a:ext cx="3810330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8A45433-F454-4885-88FC-CAAF48A2AA3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E1E5AE-1001-4CA9-8BBE-F42BEEE1EFC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오늘의 완성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0474E9-3C00-4081-AE39-C7F38DC65FE1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860448"/>
            <a:ext cx="5238750" cy="304185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02FF05D-B6DC-4E91-9656-94501854E6E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51435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캐릭터 이모지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8ECA8D-6A51-451E-A57E-B9444647F36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51435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이름과 직업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976D22-A725-4513-BB26-3F65C75E14D8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51435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한 줄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68CD2B-9764-441F-BC91-71F22D9F2C75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오늘은 JSX로 내용을 표시해요. 디자인과 능력치는 다음 실습에서 추가해요.</a:t>
            </a:r>
          </a:p>
        </p:txBody>
      </p:sp>
    </p:spTree>
    <p:extLst>
      <p:ext uri="{BB962C8B-B14F-4D97-AF65-F5344CB8AC3E}">
        <p14:creationId xmlns:p14="http://schemas.microsoft.com/office/powerpoint/2010/main" val="11992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2650ED1-0845-4E81-B7F8-80B03048E91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4E3773-A2B2-43AC-97E7-29CDB27BF8B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3A51A3-B15D-4AC6-8447-01FA4955867A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50966E-54BE-4F86-83A4-685EF354B16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6680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JavaScript 안에서</a:t>
            </a:r>
          </a:p>
          <a:p>
            <a:pPr>
              <a:defRPr sz="28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HTML처럼 화면 구조를 쓰는 문법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52DCE8-04D8-4E24-8E71-4D10655F60E3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0477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&lt;h1&gt;버그 사냥꾼&lt;/h1&gt;</a:t>
            </a:r>
          </a:p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&lt;p&gt;코딩 마법사&lt;/p&gt;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194D41-B229-4887-B0BD-AD269ABDAEAA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태그를 보고 어떤 내용이 제목이고 문단인지 알아볼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44285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09D2C63-FE15-426E-9644-4B9053868F9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5A4FE3-070B-4F11-94E5-DB8E3A601E2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준비물과 시작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F48D04-1F56-4165-8952-4CEB5D6A7219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2BD3BB-9849-4674-A809-54A45120C79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컴퓨터에 VS Code와 Node.js가 설치되어 있어요.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325847-8AE9-4FCD-A6AA-7F36146AFEC7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2. 설치 확인은 터미널에서 node -v, npm -v로 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370D7A-5048-4867-98B9-AED78941AB7E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3. 휴대폰은 컴퓨터와 같은 Wi-Fi에 연결할 수 있어요.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454D3E-7BC9-4C03-A85A-435315A3B2AE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4. 기존 hello-app이 있으면 해당 폴더를 사용해요.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7E9B21-B225-4AC6-B2B5-08B7990E20C1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버전 번호가 나오면 다음 단계로 진행해요.</a:t>
            </a:r>
          </a:p>
        </p:txBody>
      </p:sp>
    </p:spTree>
    <p:extLst>
      <p:ext uri="{BB962C8B-B14F-4D97-AF65-F5344CB8AC3E}">
        <p14:creationId xmlns:p14="http://schemas.microsoft.com/office/powerpoint/2010/main" val="201341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4746740-D221-4418-8639-3148C747B5C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CC1657-F894-4C6B-8DC8-C3EE57D11EF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프로젝트 폴더 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98CABE-8DAC-446C-9B4C-D2BE1D8D0569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20F3B8-8671-4CCE-A72A-28809922E169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7632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파일 탐색기에서 hello-app 폴더를 만들어요.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8F472D-AB8E-4DB0-916B-116C36588448}"/>
              </a:ext>
            </a:extLst>
          </p:cNvPr>
          <p:cNvSpPr>
            <a:spLocks noGrp="1"/>
          </p:cNvSpPr>
          <p:nvPr/>
        </p:nvSpPr>
        <p:spPr>
          <a:xfrm>
            <a:off x="666750" y="2733675"/>
            <a:ext cx="107632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2. VS Code의 파일 &gt; 폴더 열기를 선택해요.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6BB0CB-263D-4A4A-8CDD-09CE26AAA575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07632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3. hello-app 폴더를 선택하고 열어요.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10881F-7A61-4863-BF9C-25BE9FCF436D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예시 위치: C:\Users\사용자이름\hello-app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6945AB-A3E9-46FD-AC30-2C23EC0A936C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이미 만들어 둔 폴더가 있다면 새로 만들지 않고 열어요.</a:t>
            </a:r>
          </a:p>
        </p:txBody>
      </p:sp>
    </p:spTree>
    <p:extLst>
      <p:ext uri="{BB962C8B-B14F-4D97-AF65-F5344CB8AC3E}">
        <p14:creationId xmlns:p14="http://schemas.microsoft.com/office/powerpoint/2010/main" val="128916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B3B32D0-0903-4AFA-BBA7-B26BD38A8F7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2CD629-9F9A-40FE-ADF9-57F9868D2E8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폴더와 파일 만들기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879C5F-6B3E-4FC9-AEA7-0524D466BC2A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FA8DE2-256A-4D5B-BD24-25F69D5BDC3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657225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hello-app 안에 src 폴더를 만들어요.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A3D521-7505-4E47-8049-2B7FF6A4A154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657225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src 안에 App.jsx와 main.jsx를 만들어요.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3F7C98-B70A-46C9-A041-85418F3C4F0E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657225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hello-app 바로 아래에 index.html과 package.json을 만들어요.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2119825"/>
            <a:ext cx="3619500" cy="176110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D46EDCC-46A3-43E2-B4D1-97D26653269E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탐색기에서 폴더를 오른쪽 클릭한 뒤 새 파일 또는 새 폴더를 선택해요.</a:t>
            </a:r>
          </a:p>
        </p:txBody>
      </p:sp>
    </p:spTree>
    <p:extLst>
      <p:ext uri="{BB962C8B-B14F-4D97-AF65-F5344CB8AC3E}">
        <p14:creationId xmlns:p14="http://schemas.microsoft.com/office/powerpoint/2010/main" val="1519434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C09BCB5-AE46-4BCC-8CE2-2C0E7325CD0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EF5EEB-4F15-4B1D-A0ED-BEE6EDEC3DE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package.json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24E141-3269-47B0-8D8D-126AD000110C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8F038-1AE6-476E-B39D-BAA8EF7A4AE0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733425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"name": "hello-app",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"version": "1.0.0",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"private": true,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"type": "module",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"scripts":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"dev": "vite",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"build": "vite build",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"preview": "vite preview"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5E7FA5-BA8B-4E3F-8C02-86E7D0E46317}"/>
              </a:ext>
            </a:extLst>
          </p:cNvPr>
          <p:cNvSpPr>
            <a:spLocks noGrp="1"/>
          </p:cNvSpPr>
          <p:nvPr/>
        </p:nvSpPr>
        <p:spPr>
          <a:xfrm>
            <a:off x="8143875" y="2095500"/>
            <a:ext cx="32385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프로젝트 최상위 파일</a:t>
            </a:r>
          </a:p>
          <a:p>
            <a:endParaRPr sz="202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실행 명령을 등록해요.</a:t>
            </a:r>
          </a:p>
          <a:p>
            <a:endParaRPr sz="2025" b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입력 후 Ctrl + 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843BF6-8006-4087-A73E-44810A7EAF59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새 실습용 파일 기준이에요. JSON에는 주석을 넣지 않아요.</a:t>
            </a:r>
          </a:p>
        </p:txBody>
      </p:sp>
    </p:spTree>
    <p:extLst>
      <p:ext uri="{BB962C8B-B14F-4D97-AF65-F5344CB8AC3E}">
        <p14:creationId xmlns:p14="http://schemas.microsoft.com/office/powerpoint/2010/main" val="79072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B20E84E-3041-4386-BB29-33F90C9CEE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850D25-9EED-4A8A-A692-7F68CF0E1BFD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React와 Vite 설치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02EE05-4716-4A60-A16C-F93C837CD134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F7E39-764B-49FD-A283-C50D4225AC8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VS Code의 터미널 &gt; 새 터미널을 열어요.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942802-A194-4E8C-9E8D-E6825824562D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install react react-</a:t>
            </a: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dom</a:t>
            </a:r>
            <a:endParaRPr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406E02-8F03-4654-BD95-A42436FC8323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설치가 끝나고 입력할 수 있는 줄이 다시 나타나면 실행해요.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DCD411-5141-41F4-9419-40C8844C63FC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55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install -D </a:t>
            </a:r>
            <a:r>
              <a:rPr sz="255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vite</a:t>
            </a:r>
            <a:endParaRPr sz="2550" b="0" dirty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A32A7B-F6D6-4796-8018-4868163F65E9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터미널의 현재 폴더가 hello-app인지 확인해요. 두 명령은 한 줄씩 실행해요.</a:t>
            </a:r>
          </a:p>
        </p:txBody>
      </p:sp>
    </p:spTree>
    <p:extLst>
      <p:ext uri="{BB962C8B-B14F-4D97-AF65-F5344CB8AC3E}">
        <p14:creationId xmlns:p14="http://schemas.microsoft.com/office/powerpoint/2010/main" val="201879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2C6C4A2-FE80-4D8A-B780-128C7C45CB8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9BFC5A-75D6-4AEC-AC0E-05ED4022DEBD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설치 완료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F811A7-FAAA-42EB-97F9-93AB6C132329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ED9BDE-16E9-44E9-B75C-673C791C5619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node_modules 폴더가 자동으로 생겨요.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6EC52A-7A20-41D8-B9DA-9347FC55070B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package-lock.json 파일이 자동으로 생겨요.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889C86-7D66-4DD9-B6F0-1F85071B3425}"/>
              </a:ext>
            </a:extLst>
          </p:cNvPr>
          <p:cNvSpPr>
            <a:spLocks noGrp="1"/>
          </p:cNvSpPr>
          <p:nvPr/>
        </p:nvSpPr>
        <p:spPr>
          <a:xfrm>
            <a:off x="666750" y="34385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package.json에 설치한 패키지 정보가 추가돼요.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62C2F8-1681-4D82-BDE5-79B1C4BAA0F8}"/>
              </a:ext>
            </a:extLst>
          </p:cNvPr>
          <p:cNvSpPr>
            <a:spLocks noGrp="1"/>
          </p:cNvSpPr>
          <p:nvPr/>
        </p:nvSpPr>
        <p:spPr>
          <a:xfrm>
            <a:off x="666750" y="42767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npm error가 나오면 오류를 해결한 뒤 진행해요.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FFA6C5-40B3-4698-A59C-9941B0BBD966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자동 생성한 폴더와 파일은 직접 입력하거나 수정할 필요가 없어요.</a:t>
            </a:r>
          </a:p>
        </p:txBody>
      </p:sp>
    </p:spTree>
    <p:extLst>
      <p:ext uri="{BB962C8B-B14F-4D97-AF65-F5344CB8AC3E}">
        <p14:creationId xmlns:p14="http://schemas.microsoft.com/office/powerpoint/2010/main" val="867668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DD28466-7999-46DA-B6CA-986DA688E16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991E2F-A353-4309-AFD7-A7AAD2ECA1B7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App.jsx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840B42-830E-4205-894F-6DFC3D3AF924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F28874-54BF-4064-B6B7-61ED9A2C5E8D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412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endParaRPr sz="1875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&lt;main&gt;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&lt;div&gt;&amp;#x1F9D9;&lt;/div&gt;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&lt;h1&gt;버그 사냥꾼&lt;/h1&gt;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&lt;p&gt;코딩 마법사&lt;/p&gt;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&lt;p&gt;버그를 찾아 떠나는 나의 첫 모험!&lt;/p&gt;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&lt;/main&gt;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DDBDC3-E824-4D96-8235-D29CEABA6CDC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271462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&amp;#x1F9D9;는</a:t>
            </a:r>
          </a:p>
          <a:p>
            <a:pPr>
              <a:def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마법사 이모지를</a:t>
            </a:r>
          </a:p>
          <a:p>
            <a:pPr>
              <a:def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표시하는 코드예요.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1480C2-1F45-4A3B-A0C4-FB17E3278232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위치: src/App.jsx   ·   화면에 표시할 내용을 작성하고 Ctrl + S로 저장해요.</a:t>
            </a:r>
          </a:p>
        </p:txBody>
      </p:sp>
    </p:spTree>
    <p:extLst>
      <p:ext uri="{BB962C8B-B14F-4D97-AF65-F5344CB8AC3E}">
        <p14:creationId xmlns:p14="http://schemas.microsoft.com/office/powerpoint/2010/main" val="980728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0EE676B-CC72-4BC0-9DCE-7C418B3D3A2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51FC18-3CC4-4EDF-A0B9-03514C5286D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 코드 읽기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94F994-65B8-447E-8C40-E4BA100E9D39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3A8B96-F811-44F2-8DF8-7E43BC3C3DCC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 함수는 화면을 구성하는 컴포넌트예요.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86C332-B9FD-4228-A0E4-5F9EB3CD48EC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return은 화면에 표시할 JSX를 반환해요.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B21B13-E158-4B78-8815-207647B56EE1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&lt;main&gt;은 이번 화면의 내용을 하나로 묶어요.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CC23F3-AF93-4724-9961-1BF4B3AD6F10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&lt;h1&gt;은 제목, &lt;p&gt;는 문단을 표시해요.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F3A8C3-6CF0-4015-B8EC-81346375C029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태그는 &lt;p&gt;내용&lt;/p&gt;처럼 열고 닫는 짝을 맞춰요.</a:t>
            </a:r>
          </a:p>
        </p:txBody>
      </p:sp>
    </p:spTree>
    <p:extLst>
      <p:ext uri="{BB962C8B-B14F-4D97-AF65-F5344CB8AC3E}">
        <p14:creationId xmlns:p14="http://schemas.microsoft.com/office/powerpoint/2010/main" val="623886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08AA0FB-29EE-43B5-B13B-59B2E523E28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D12776-448A-4468-9D20-98C696CABDFB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main.jsx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DB41CC-7EBA-4327-975C-F4E3E488E4AA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EA2E00-1417-4169-9929-21E129B4DB8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858500" cy="3476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{ createRoot } from "react-dom/client";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App from "./App.jsx";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root = createRoot(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document.getElementById("root")</a:t>
            </a: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);</a:t>
            </a:r>
          </a:p>
          <a:p>
            <a:endParaRPr sz="210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root.render(&lt;App /&gt;);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1D30A7-61C2-4782-8704-305F3881AA7A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위치: src/main.jsx   ·   HTML의 root 자리에 App을 표시해요.</a:t>
            </a:r>
          </a:p>
        </p:txBody>
      </p:sp>
    </p:spTree>
    <p:extLst>
      <p:ext uri="{BB962C8B-B14F-4D97-AF65-F5344CB8AC3E}">
        <p14:creationId xmlns:p14="http://schemas.microsoft.com/office/powerpoint/2010/main" val="1831175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1308A2B-8DE7-41AE-AA50-191FB8D74A1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B761E5-8113-4DCF-882E-D62B75E77B9E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index.html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6A2DD2-6536-447D-9A32-C2F4C1624185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51BFD9-EC7C-43A8-8E9D-90B30C4CC12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076325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&lt;!DOCTYPE html&gt;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&lt;html lang="ko"&gt;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&lt;head&gt;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&lt;meta charset="UTF-8" /&gt;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&lt;meta name="viewport"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content="width=device-width, initial-scale=1.0" /&gt;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&lt;title&gt;나의 캐릭터 카드&lt;/title&gt;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&lt;/head&gt;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&lt;body&gt;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&lt;div id="root"&gt;&lt;/div&gt;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&lt;script type="module" src="/src/main.jsx"&gt;&lt;/script&gt;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&lt;/body&gt;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&lt;/html&gt;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0A8B3F-C531-4EB7-8A0C-C6AC53739BE0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위치: hello-app/index.html   ·   src 폴더 바깥에 저장해요.</a:t>
            </a:r>
          </a:p>
        </p:txBody>
      </p:sp>
    </p:spTree>
    <p:extLst>
      <p:ext uri="{BB962C8B-B14F-4D97-AF65-F5344CB8AC3E}">
        <p14:creationId xmlns:p14="http://schemas.microsoft.com/office/powerpoint/2010/main" val="792397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7EF8B0-9D8C-4715-AD4F-844BD2D9A30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6D7E2A-8985-4E5B-AD50-07AE74A83D0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세 파일의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5F4491-0668-4F7E-BFD5-2830A45B08BB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5AFFF-EFC0-45C2-9474-C9B0D1C291D0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352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index.html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C0D80B-B382-49A8-8A44-E8644C0C2E9A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root 자리를 만들고 main.jsx를 불러와요.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3ABC3-C213-4EE3-AF1F-BE494BD8FF7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352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main.jsx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75144A-9029-4F3F-ACD9-9047662EFBB4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root 자리에 &lt;App /&gt;을 표시해요.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F9666D-F829-4828-9F91-D1FCCB915941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3524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App.jsx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5EBCA1-9185-44D3-8BAC-1BA03934BC5E}"/>
              </a:ext>
            </a:extLst>
          </p:cNvPr>
          <p:cNvSpPr>
            <a:spLocks noGrp="1"/>
          </p:cNvSpPr>
          <p:nvPr/>
        </p:nvSpPr>
        <p:spPr>
          <a:xfrm>
            <a:off x="4476750" y="4524375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캐릭터 이름과 소개를 JSX로 작성해요.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A61D1C-D478-46DC-A6AE-2A838A8A93C5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내용을 바꾸는 실습은 주로 App.jsx에서 진행해요.</a:t>
            </a:r>
          </a:p>
        </p:txBody>
      </p:sp>
    </p:spTree>
    <p:extLst>
      <p:ext uri="{BB962C8B-B14F-4D97-AF65-F5344CB8AC3E}">
        <p14:creationId xmlns:p14="http://schemas.microsoft.com/office/powerpoint/2010/main" val="33922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055F075-8B52-4B26-816F-CBCF97240B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30CCEF-77B4-4830-BEE1-51EE5EFFD3E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컴퓨터에서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F86823-895A-427E-9299-DC7347522817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0D0CA6-F298-461F-8CFC-6E73B681930C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모든 파일을 저장한 뒤 hello-app 터미널에서 실행해요.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93D3CA-9FD7-4335-A5E3-364CBFF2423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30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run dev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BE7635-4886-4CE8-BADA-8180AAF0A1EA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터미널에 나타난 Local 주소를 Ctrl + 클릭해요.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E04614-9A59-482E-8111-D45173C289FA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Local: http://localhost:5173/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357B7D-9152-4670-B5A9-5D68B355A6A3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5173은 기본 포트예요. 다른 번호가 나오면 실제 표시된 주소를 사용해요.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D10B2-1F7C-A31F-B4D1-9BA88D0E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104" y="3943271"/>
            <a:ext cx="3810330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57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9622FE5-6CB0-4B50-A891-BC57BA2F44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8359AF-53B5-4402-B3E8-5F341A68A1B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09  내 캐릭터로 변경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675006-9808-4959-9488-9A362F1AD875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F3D9F8-7071-4E30-A118-736BC27F8E9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App.jsx에서 네 가지 내용을 바꾸고 저장해요.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FEFA05-5365-4F55-B6A4-1B75DCABB06E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이모지      Windows 키 + 마침표로 선택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060B77-30F2-40FC-BC33-D516606E1330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이름         버그 사냥꾼 대신 내가 정한 별명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39876C-1D64-4CF4-AE60-AD9AF085320E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직업         코딩 마법사 대신 새로운 직업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EF5963-38FC-4C3A-8B6F-E83E772F76BB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소개         캐릭터를 설명하는 한 문장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D5EFDA-22A9-4216-810D-69031319D88D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저장 후 브라우저를 확인해요. 화면이 그대로라면 새로고침해요.</a:t>
            </a:r>
          </a:p>
        </p:txBody>
      </p:sp>
    </p:spTree>
    <p:extLst>
      <p:ext uri="{BB962C8B-B14F-4D97-AF65-F5344CB8AC3E}">
        <p14:creationId xmlns:p14="http://schemas.microsoft.com/office/powerpoint/2010/main" val="1152019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6D5BBD8-F7BC-48D1-8624-80805F5D72D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66DD18-680C-47A7-82B8-88DD9CFE0484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10  휴대폰 연결 준비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427126-0796-403C-9F12-16199BC6166A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E84847-CE47-4483-9616-CC91024F358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컴퓨터와 휴대폰을 같은 Wi-Fi에 연결해요.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2D9248-ED8A-4F0C-8ECE-183F35124CFD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2. 컴퓨터 터미널에서 Ctrl + C로 서버를 종료해요.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9DC208-AD4C-4687-A0CC-6EED819C9A05}"/>
              </a:ext>
            </a:extLst>
          </p:cNvPr>
          <p:cNvSpPr>
            <a:spLocks noGrp="1"/>
          </p:cNvSpPr>
          <p:nvPr/>
        </p:nvSpPr>
        <p:spPr>
          <a:xfrm>
            <a:off x="666750" y="334327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3. 아래 명령으로 서버를 다시 실행해요.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470F45-2E64-4F0A-80E9-ECF1FF26AD15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 dirty="0" err="1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</a:t>
            </a:r>
            <a:r>
              <a:rPr sz="2625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run dev -- --host 0.0.0.0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69F356-6E35-4004-A84C-104852582443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휴대폰으로 접속하는 동안 컴퓨터와 서버를 켜 두어요.</a:t>
            </a:r>
          </a:p>
        </p:txBody>
      </p:sp>
    </p:spTree>
    <p:extLst>
      <p:ext uri="{BB962C8B-B14F-4D97-AF65-F5344CB8AC3E}">
        <p14:creationId xmlns:p14="http://schemas.microsoft.com/office/powerpoint/2010/main" val="721891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CC06C78-EA86-4D0E-8293-3DF2CAF2E4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39F53C-8C41-452C-8F18-F4950BE3C794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11  휴대폰에서 Network 주소 접속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B4B5C1-246E-47FF-8839-9DD48B733E13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1E5CD1-BFAF-44FF-9F1A-2B31A0182B56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763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Local:   http://localhost:5173/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 dirty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Network: http://192.168.0.12:5173/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196349-8862-402C-B0A0-EDE795BCB788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 크롬이나 사파리의 주소창을 열어요.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0017B8-932A-4770-991B-DD1B06C0E304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본인 터미널에 나온 Network 주소 전체를 입력해요.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28CA73-AC3E-4BB5-A2F5-D51833AD1D59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http://와 포트 번호까지 확인해요.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1D869C-F040-454B-A0EB-5A33B94C5069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192.168.0.12는 예시예요. 휴대폰에서 localhost를 입력하면 안 돼요.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752CF46-A5B2-52CD-99B1-2822E1142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982" y="1857375"/>
            <a:ext cx="4359018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04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DA52288-84FC-4748-A6E6-34C85A0AFF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603193-F999-40BD-B5EE-5C02AD1B589E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실행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성공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607655-2B8D-4513-BCE1-6D1D4F45F1A3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9823" y="1666875"/>
            <a:ext cx="2141730" cy="4762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C27B78B-6060-4E95-9113-E470225680F4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이름과 직업이 표시돼요.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AE6327-4719-4388-8858-638792A65A3D}"/>
              </a:ext>
            </a:extLst>
          </p:cNvPr>
          <p:cNvSpPr>
            <a:spLocks noGrp="1"/>
          </p:cNvSpPr>
          <p:nvPr/>
        </p:nvSpPr>
        <p:spPr>
          <a:xfrm>
            <a:off x="666750" y="27908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소개 문장도 확인할 수 있어요.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FFF483-AFA9-45F5-AA72-8ECDE6AF548B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컴퓨터에서 이름을 바꾸고 저장한 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A75D0F-96C9-466F-9777-31EF966FA3A6}"/>
              </a:ext>
            </a:extLst>
          </p:cNvPr>
          <p:cNvSpPr>
            <a:spLocks noGrp="1"/>
          </p:cNvSpPr>
          <p:nvPr/>
        </p:nvSpPr>
        <p:spPr>
          <a:xfrm>
            <a:off x="666750" y="44672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휴대폰에서도 변경을 확인해요.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6E3979-5F24-40D2-A205-496C8C449AD5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화면이 그대로라면 휴대폰 브라우저를 새로고침해요.</a:t>
            </a:r>
          </a:p>
        </p:txBody>
      </p:sp>
    </p:spTree>
    <p:extLst>
      <p:ext uri="{BB962C8B-B14F-4D97-AF65-F5344CB8AC3E}">
        <p14:creationId xmlns:p14="http://schemas.microsoft.com/office/powerpoint/2010/main" val="1299061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CBE8626-1A9B-4583-B826-6F9E83C0A6B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· 기존 내용을 모두 선택해 교체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E22FE5-1837-42FF-9176-B3DB1CE2881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App.jsx 전체 코드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14F8AF-65B5-414D-969A-C6AB0B764D6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925091-A3A4-4CF4-958C-9411BA8C1306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0858500" cy="442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nickname = "버그 사냥꾼";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job = "코딩 마법사";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attack = 80;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defense = 50;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(&lt;main&gt;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&lt;div&gt;&amp;#x1F9D9;&lt;/div&gt;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&lt;h1&gt;{nickname}&lt;/h1&gt;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&lt;p&gt;{job}&lt;/p&gt;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&lt;p&gt;버그를 찾아 떠나는 나의 첫 모험!&lt;/p&gt;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&lt;hr /&gt;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&lt;p&gt;공격력: {attack}&lt;/p&gt;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&lt;p&gt;방어력: {defense}&lt;/p&gt;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&lt;h2&gt;전투력: {attack + defense}&lt;/h2&gt;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&lt;/main&gt;);</a:t>
            </a:r>
          </a:p>
          <a:p>
            <a:pPr>
              <a:def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FB6D2F-B146-42EF-A611-58ECC04F4E9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별명과 직업은 const nickname과 const job의 따옴표 안에서 바꿀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887754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A940444-DA41-4989-AEBC-9D8A4D0D132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88093A-6F3D-4888-BF9C-2A739E3808D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실행과 숫자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A4DD93-B29B-4428-B1FD-FC95AFD78EC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CC14CF-7B60-4BDD-9CF9-0B9C9587674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npm run dev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60760F-69C6-4AA4-A5B7-DE307555F319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터미널의 Local 주소를 Ctrl + 클릭해요.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0" y="3381375"/>
            <a:ext cx="2143125" cy="28575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3492A0F-3878-4A1B-B334-24904D03B2F3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6572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공격력 80</a:t>
            </a:r>
          </a:p>
          <a:p>
            <a:pPr>
              <a:def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방어력 50</a:t>
            </a:r>
          </a:p>
          <a:p>
            <a:pPr>
              <a:def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전투력 130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C2F654-5AF4-4C62-B4D5-F2F28A49BC7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이미 서버가 실행 중이라면 다시 실행하지 않고 열린 화면을 확인해요.</a:t>
            </a:r>
          </a:p>
        </p:txBody>
      </p:sp>
    </p:spTree>
    <p:extLst>
      <p:ext uri="{BB962C8B-B14F-4D97-AF65-F5344CB8AC3E}">
        <p14:creationId xmlns:p14="http://schemas.microsoft.com/office/powerpoint/2010/main" val="643125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CF13296-A68C-43E5-BC15-B9CF17C45F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27C7E6-9D10-4EC9-972A-6C780851534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JSX의 변수와 계산식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7F2072-02D2-4303-9636-61082D10A85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2AC5BF-D407-4F13-83F1-174242DE106A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8585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&lt;p&gt;공격력: {attack}&lt;/p&gt;</a:t>
            </a:r>
          </a:p>
          <a:p>
            <a:pPr>
              <a:def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&lt;h2&gt;전투력: {attack + defense}&lt;/h2&gt;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0D9A3D-15EC-4DE1-B60D-99BE254F4312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{attack}에는 변수 값 80이 표시돼요.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749BBD-7213-4B9D-9737-840F33EF22AC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{attack + defense}에는 계산 결과 130이 표시돼요.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639212-CCA9-4423-8BDB-33E8E6DFD323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태그는 화면 구조를, { }는 JavaScript 값을 연결해요.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CD68FA-D500-4B97-973E-207C45FE0BB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이제 계산 기능이 있는 화면에 CSS 디자인을 연결해요.</a:t>
            </a:r>
          </a:p>
        </p:txBody>
      </p:sp>
    </p:spTree>
    <p:extLst>
      <p:ext uri="{BB962C8B-B14F-4D97-AF65-F5344CB8AC3E}">
        <p14:creationId xmlns:p14="http://schemas.microsoft.com/office/powerpoint/2010/main" val="787002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4E6819-CA69-4497-9E25-9C57459E8DD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7FB74E-8F87-4221-8EC6-DBE94F35ED4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App.css 파일 만들기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97CB10-136B-49A7-B2A6-3E1CFA68987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72AB9C-8C8D-4CB7-8293-33FBC8491E3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763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왼쪽 탐색기에서 src 폴더를 오른쪽 클릭해요.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04F650-C528-4322-B47A-C08A7F4626CA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0763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새 파일을 선택하고 App.css라고 입력해요.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F31742-CA6B-4249-8BC9-3E0803B88411}"/>
              </a:ext>
            </a:extLst>
          </p:cNvPr>
          <p:cNvSpPr>
            <a:spLocks noGrp="1"/>
          </p:cNvSpPr>
          <p:nvPr/>
        </p:nvSpPr>
        <p:spPr>
          <a:xfrm>
            <a:off x="666750" y="3448050"/>
            <a:ext cx="10763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App.jsx와 같은 src 폴더 안에 두어요.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2E1C77-ED4C-48D6-897F-1BB4012975C6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10763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App.css를 열어요. 새 파일은 내용이 비어 있어요.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ADB698-5E1C-423E-83B4-087C747D750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파일 이름의 A는 대문자예요. 확장자는 .css로 입력해요.</a:t>
            </a:r>
          </a:p>
        </p:txBody>
      </p:sp>
    </p:spTree>
    <p:extLst>
      <p:ext uri="{BB962C8B-B14F-4D97-AF65-F5344CB8AC3E}">
        <p14:creationId xmlns:p14="http://schemas.microsoft.com/office/powerpoint/2010/main" val="136436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9075329-B654-4040-824B-27167B798BC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C0FF41-12DC-47E7-A441-7F098B4FE5F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App.jsx에 CSS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F2BC3B-3117-4679-AED6-ADE76946BF6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1ADABF-BE03-45D2-9F7A-1706B88ED6D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 맨 위를 다음 두 줄로 만들어요.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81450E-CD58-4AB3-987C-B31B4E65EF2F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10858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"./App.css";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CD5DE9-7D7C-45C7-B46B-F218FC186CDD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기존 import React 아래에 두 번째 줄만 추가해요.</a:t>
            </a:r>
          </a:p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그 아래 캐릭터 코드는 그대로 두고 저장해요.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24F138-7CF2-4FD1-98E6-0337C8039BC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App.css가 비어 있으면 아직 화면은 바뀌지 않아요. 다음 장부터 스타일을 입력해요.</a:t>
            </a:r>
          </a:p>
        </p:txBody>
      </p:sp>
    </p:spTree>
    <p:extLst>
      <p:ext uri="{BB962C8B-B14F-4D97-AF65-F5344CB8AC3E}">
        <p14:creationId xmlns:p14="http://schemas.microsoft.com/office/powerpoint/2010/main" val="819732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9EF528D-8330-44DF-B708-CCB5962A3DE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빈 파일에 아래 코드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E77D7B-EC5A-47B7-AED3-3573ECDC86C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09  CSS ① 전체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12806A-E769-4E2F-AAC8-D73E9E6611C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F80FCA-B420-42DC-B438-CCA774C01741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*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box-sizing: border-box;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body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min-height: 100vh;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32px 16px;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grid;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place-items: center;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radial-gradient(circle at top, #293859, #101827 65%);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#f1f5f9;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font-family: "Malgun Gothic", sans-serif;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576282-AE6A-4FA4-A799-226DA5B49A3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남색 배경과 밝은 글자 색이 적용돼요.</a:t>
            </a:r>
          </a:p>
        </p:txBody>
      </p:sp>
    </p:spTree>
    <p:extLst>
      <p:ext uri="{BB962C8B-B14F-4D97-AF65-F5344CB8AC3E}">
        <p14:creationId xmlns:p14="http://schemas.microsoft.com/office/powerpoint/2010/main" val="560529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F7FEF14-811F-4185-994C-11AFDF46BB5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기존 코드를 지우지 않고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758ED1-91C7-49E4-9B12-A2FEC13E7B1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10  CSS ② 카드 모양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7F2E74-CD10-4562-A56A-915E6F1CB74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826C14-FC07-4EEC-80F3-971D6BA4B8DA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#root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main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max-width: 380px;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auto;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32px 24px;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#1b273b;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1px solid #384961;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28px;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text-align: center;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box-shadow: 0 20px 50px #00000050;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367F28-946E-466D-8619-BF941FF13A8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가운데에 모서리가 둥근 카드가 생겨요.</a:t>
            </a:r>
          </a:p>
        </p:txBody>
      </p:sp>
    </p:spTree>
    <p:extLst>
      <p:ext uri="{BB962C8B-B14F-4D97-AF65-F5344CB8AC3E}">
        <p14:creationId xmlns:p14="http://schemas.microsoft.com/office/powerpoint/2010/main" val="951195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7C919FF-9940-418E-AB0A-800988F7875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기존 코드를 지우지 않고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1C8A10-8427-4C74-9108-97E5ECE521B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11  CSS ③ 캐릭터 이모지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0FC02B-E83E-4F9F-AAC7-AB3A155F4BD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91766F-6019-4DEC-9DBB-ECF2EA3193EA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main &gt; div:first-child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display: grid;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place-items: center;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112px;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height: 112px;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auto 24px;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#2a3b55;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2px solid #6ee7b7;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50%;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64px;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782334-82B0-4BDB-8FBC-2F1A0185FAB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캐릭터가 커지고 민트색 원형 테두리가 생겨요.</a:t>
            </a:r>
          </a:p>
        </p:txBody>
      </p:sp>
    </p:spTree>
    <p:extLst>
      <p:ext uri="{BB962C8B-B14F-4D97-AF65-F5344CB8AC3E}">
        <p14:creationId xmlns:p14="http://schemas.microsoft.com/office/powerpoint/2010/main" val="194636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E609798-E4F8-4E27-A0A0-5ED8A946554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기존 코드를 지우지 않고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DBF17F-D62B-4FE9-A705-E7700234D60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12  CSS ④ 이름과 직업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86B2E4-24A9-425D-8844-A39A3FEDFF7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2012EA-4CE1-489C-BBB8-5C2B53820235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h1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0 12px;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30px;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letter-spacing: -1px;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overflow-wrap: anywhere;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main &gt; p:first-of-type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0 20px;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#6ee7b7;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font-weight: bold;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E60486-EC57-448A-AEF0-F6E3802B6A9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이름은 크게, 직업은 민트색으로 표시돼요.</a:t>
            </a:r>
          </a:p>
        </p:txBody>
      </p:sp>
    </p:spTree>
    <p:extLst>
      <p:ext uri="{BB962C8B-B14F-4D97-AF65-F5344CB8AC3E}">
        <p14:creationId xmlns:p14="http://schemas.microsoft.com/office/powerpoint/2010/main" val="982290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46172F-6C89-4F90-BE4B-86EF95D724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기존 코드를 지우지 않고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F4F42-283C-48AC-A099-403837B5A1F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13  CSS ⑤ 문장과 구분선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81000-D29A-4A71-86F2-44EE7E0B006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28ED70-E73D-4366-AFAF-9DECCDA6BDFB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p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14px 0;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#d5deeb;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16px;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line-height: 1.7;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hr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24px 0;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0;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border-top: 1px solid #384961;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DD357C-A133-44FB-BA8D-97184506DB1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문장 간격과 얇은 구분선이 정리돼요.</a:t>
            </a:r>
          </a:p>
        </p:txBody>
      </p:sp>
    </p:spTree>
    <p:extLst>
      <p:ext uri="{BB962C8B-B14F-4D97-AF65-F5344CB8AC3E}">
        <p14:creationId xmlns:p14="http://schemas.microsoft.com/office/powerpoint/2010/main" val="75145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EA9FD-8988-4F63-B2E1-F0FB31441EC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· 기존 코드를 지우지 않고 맨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6D0A91-4D5D-4D02-97C5-19BE4F0C000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14  CSS ⑥ 전투력 강조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4A26A2-ED99-4B59-9A8F-A8F66AC68BF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289800-901A-4EF4-84EE-B0CFDD60DCBA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858500" cy="406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h2 {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24px 0 0;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18px 12px;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#6ee7b7;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16px;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#102a25;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26px;</a:t>
            </a:r>
          </a:p>
          <a:p>
            <a:pPr>
              <a:def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85F254-4EA7-4D7C-A7CE-762408A607A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 저장 후 확인: 전투력 130이 민트색 영역으로 강조돼요.</a:t>
            </a:r>
          </a:p>
        </p:txBody>
      </p:sp>
    </p:spTree>
    <p:extLst>
      <p:ext uri="{BB962C8B-B14F-4D97-AF65-F5344CB8AC3E}">
        <p14:creationId xmlns:p14="http://schemas.microsoft.com/office/powerpoint/2010/main" val="850444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9885C89-D850-400F-8B15-544CAD8E161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1F4509-255E-43F4-A691-30F402DDCF3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15  디자인 완성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12FC69-F8DF-4387-A619-17DDA493F6D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69867" y="1619250"/>
            <a:ext cx="3500641" cy="4762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AC0C0E3-B28B-4792-9D08-8DF70C1A55B2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남색 배경과 둥근 카드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FC3B75-D47A-49C5-A0A9-774058DB2903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원형 테두리 안의 캐릭터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DBD759-720E-4D53-9B34-CC2B71A7023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민트색 직업과 전투력 영역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9D38FA-AE1D-480A-BCEE-2A3F0A514909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공격력 80 + 방어력 50 = 130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5E5089-4B96-4F38-BD9C-FC2A3933540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오른쪽은 실제 완성 화면이에요. 기기에 따라 이모지 모양은 달라질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404907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8FD8E-8497-7DE5-194B-07B3EF74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82708E8-CC00-3DAA-A8E7-4EFD2001CF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실습 1 · JSX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DD4A7B-31DC-DC04-A80F-08F4EA0F67A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347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실행</a:t>
            </a:r>
            <a:r>
              <a:rPr sz="3300" b="1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300" b="1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성공</a:t>
            </a:r>
            <a:endParaRPr sz="3300" b="1" dirty="0">
              <a:solidFill>
                <a:srgbClr val="F3F6F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B5FE7-DBB9-2E6A-503A-262E6D41D028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0DEA06-5D94-BE7F-57E6-CF4286C870DF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이름과 직업이 표시돼요.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9C26BA-8298-919D-015E-B9627DB6C3E0}"/>
              </a:ext>
            </a:extLst>
          </p:cNvPr>
          <p:cNvSpPr>
            <a:spLocks noGrp="1"/>
          </p:cNvSpPr>
          <p:nvPr/>
        </p:nvSpPr>
        <p:spPr>
          <a:xfrm>
            <a:off x="666750" y="27908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소개 문장도 확인할 수 있어요.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BB7231-F8B8-6D08-F2D1-BF86339C26DF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컴퓨터에서 이름을 바꾸고 저장한 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C717F4-B969-54E5-1EA3-48EE8829D9A3}"/>
              </a:ext>
            </a:extLst>
          </p:cNvPr>
          <p:cNvSpPr>
            <a:spLocks noGrp="1"/>
          </p:cNvSpPr>
          <p:nvPr/>
        </p:nvSpPr>
        <p:spPr>
          <a:xfrm>
            <a:off x="666750" y="4467225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휴대폰에서도 변경을 확인해요.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61C958-C619-F1FA-DBC6-5A700B41EB5D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화면이 그대로라면 휴대폰 브라우저를 새로고침해요.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FE2260-59DB-0D31-DF0A-2307CF320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04" y="700001"/>
            <a:ext cx="2398196" cy="53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01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A059A1D-CDFA-4924-A11E-2B912C6F19E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실습 · 캐릭터 카드 디자인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6082B5-ACB0-4AB9-BF6B-1185F369D0E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선택 미션  전투력 200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35CDA0-559E-4E82-A070-2ADFBBC6FE0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3C2D0A-1A61-458A-9C7A-E453C5E6DBE4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8585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attack = 120;</a:t>
            </a:r>
          </a:p>
          <a:p>
            <a:pPr>
              <a:def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defense = 80;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18127A-CB6C-414F-A443-62F71DEE4D17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App.jsx에서 숫자 두 개만 바꾸고 저장해요.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ECA74E-F845-4124-BFF7-1FB763B03188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디자인은 그대로, 전투력은 200으로 바뀌어요.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1645C3-FAA6-497C-842D-92F0AF34597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완성 예시와 같은 전투력 130으로 돌아가려면 80과 50으로 복원해요.</a:t>
            </a:r>
          </a:p>
        </p:txBody>
      </p:sp>
    </p:spTree>
    <p:extLst>
      <p:ext uri="{BB962C8B-B14F-4D97-AF65-F5344CB8AC3E}">
        <p14:creationId xmlns:p14="http://schemas.microsoft.com/office/powerpoint/2010/main" val="1540801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9BE35DA-3452-4240-BF86-AF9281FC42C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미션 3 · 위급 상황을 재현하라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A585EF-6FB1-4E24-8747-343CA93927E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3단계  체력에 따른 경고 표시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1EE9D3-F44F-456C-81FF-EE3CA0058B6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049F0E-F315-4AC9-8596-0487E89385E3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캐릭터 카드에 기능 추가하기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8ECD9D-0CEB-4DC1-9B7B-720A1872DAF8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체력이 30 이하이면 경고 문구를 표시해요.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FA6ABC-AE16-4767-9489-801676C0EE4D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수정 파일: src/App.jsx와 src/App.css</a:t>
            </a:r>
          </a:p>
        </p:txBody>
      </p:sp>
    </p:spTree>
    <p:extLst>
      <p:ext uri="{BB962C8B-B14F-4D97-AF65-F5344CB8AC3E}">
        <p14:creationId xmlns:p14="http://schemas.microsoft.com/office/powerpoint/2010/main" val="781220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E634D44-8E45-4984-8A06-FB0BC8FF925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미션 3 · 위급 상황을 재현하라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2CE707-EEBB-45FA-9FD2-FF35D4A206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현재 화면과 시작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E4CEC1-B519-4B33-8E05-E6CF37B79E7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19950" y="1571625"/>
            <a:ext cx="4133850" cy="4667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B7DAE45-36F7-4201-BEEC-8914A05B37D4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61912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첨부 화면에는</a:t>
            </a:r>
          </a:p>
          <a:p>
            <a:pPr>
              <a:def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체력 100이 표시되어 있어요.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D04E6-57A2-4FB7-B666-CDD93020E06E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지금 상태에서는</a:t>
            </a:r>
          </a:p>
          <a:p>
            <a:pPr>
              <a:def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6쪽부터 이어서 진행해요.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95966F-EF13-40AE-88B7-1EB9FF12ACC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체력이 없는 기준 파일로 시작하면 3쪽부터 따라 해요.</a:t>
            </a:r>
          </a:p>
        </p:txBody>
      </p:sp>
    </p:spTree>
    <p:extLst>
      <p:ext uri="{BB962C8B-B14F-4D97-AF65-F5344CB8AC3E}">
        <p14:creationId xmlns:p14="http://schemas.microsoft.com/office/powerpoint/2010/main" val="397781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9A08F73-EE8A-43FD-B252-022451157C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미션 3 · 위급 상황을 재현하라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24A96E-7355-46F4-9468-C18B2CFAD9B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01  수정할 파일 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90C5D8-A891-4E26-BE37-5195996C980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C83DBF-C682-403C-8F10-97A71F92F7E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7632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VS Code에서 hello-app 폴더를 열어요.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DF7EFA-A00F-43C5-9EBE-CB243AE6E14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107632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왼쪽 탐색기에서 src 폴더를 펼쳐요.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B61A0-D6E2-4376-9BBC-C0451299AF95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107632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App.jsx를 클릭해요.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35DE6F-63EF-4173-95FB-26C1D06B9224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107632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이번 실습은 지정한 위치에 코드를 추가해요.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FDE46C-AB9E-45C4-B998-D56C416704C7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이미 실행 중인 브라우저를 함께 열어 두어요. 각 단계 후 Ctrl + S로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431395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09C4030-EC12-49F5-88B9-2BC5D598158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defense 변수 바로 아래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DBA4F2-AEC7-4E96-ADC7-7B97EDA1B29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02  체력 변수 한 줄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BCCF98-0FDC-483D-8727-699F02018F8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AFEE10-D133-44B0-BA41-DC06426A329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찾을 코드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549018-CE39-4FE9-A05E-EC41DA15C904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defense = 50;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DD9F9B-DA11-4A40-B1B6-6BC52F5A1E67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위 줄 바로 아래에 추가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4F03A1-82E0-402A-AC49-08A6BD2B5C12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hp = 100;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F73C76-B196-4E44-840E-32BD64E210F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이미 const hp가 있으면 다시 추가하지 않아요. 공격력과 방어력은 현재 값을 유지해요.</a:t>
            </a:r>
          </a:p>
        </p:txBody>
      </p:sp>
    </p:spTree>
    <p:extLst>
      <p:ext uri="{BB962C8B-B14F-4D97-AF65-F5344CB8AC3E}">
        <p14:creationId xmlns:p14="http://schemas.microsoft.com/office/powerpoint/2010/main" val="535792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0E429F0-5198-49A2-B54D-6ABF7CD666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방어력을 표시하는 줄 바로 아래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203D71-C82F-4848-BBBA-81629CDD497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03  화면에 체력 한 줄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C593B7-04D4-4EC9-8534-7EA5424785A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05D13F-8D93-4679-A12B-BEFAA360D33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찾을 코드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6106A1-2E0A-4E53-BF7F-B2680BD2CE9D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&lt;p&gt;방어력: {defense}&lt;/p&gt;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9EF0B1-E5CF-49B4-A079-777BE17D5946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추가 후 주변 코드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EF3F40-59D2-4ACE-8027-98789EBD89C8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858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&lt;p&gt;방어력: {defense}&lt;/p&gt;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&lt;p&gt;체력: {hp}&lt;/p&gt;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&lt;h2&gt;전투력: {attack + defense}&lt;/h2&gt;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828E70-3A4F-4472-8FF6-6973AD808A1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저장 후 체력: 100이 보이면 성공이에요. 이미 있으면 중복으로 추가하지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5435248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BBB5710-F320-438E-8D0C-004D2EDD7F2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체력 표시와 전투력 표시 사이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AB769C-865E-423A-B1A2-3868446AEDF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04  체력 아래에 경고 코드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8BF87E-57C4-4CC1-9634-284A4E0DC02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4EAB5A-B3AE-40B6-97F1-5FB2C9C9443A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&lt;p&gt;체력: {hp}&lt;/p&gt; 바로 아래에 다음 코드를을 추가해요.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52A9F5-8684-48E9-8937-321855B08328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8585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{hp &lt;= 30 &amp;&amp; (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 className="warning"&gt;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&amp;#x1F6A8; 위험! 체력을 회복하세요!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&lt;/p&gt;</a:t>
            </a:r>
          </a:p>
          <a:p>
            <a:pPr>
              <a:def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)}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F614C2-CAF3-4627-B025-DA951F56D5FB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현재 hp는 100이므로 저장해도 경고가 보이지 않는 것이 정상이에요.</a:t>
            </a:r>
          </a:p>
        </p:txBody>
      </p:sp>
    </p:spTree>
    <p:extLst>
      <p:ext uri="{BB962C8B-B14F-4D97-AF65-F5344CB8AC3E}">
        <p14:creationId xmlns:p14="http://schemas.microsoft.com/office/powerpoint/2010/main" val="1394131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3282EA5-30F5-498F-9AD3-52DD2A71190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아래 부분과 비교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39407F-DDC6-407A-9AC4-3EC96D7B88E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05  추가 위치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F6CEC5-7DB5-4502-9842-E17734127D6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A46DCB-CC45-43D6-A14A-188D05A6716C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58500" cy="3667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&lt;p&gt;공격력: {attack}&lt;/p&gt;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&lt;p&gt;방어력: {defense}&lt;/p&gt;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&lt;p&gt;체력: {hp}&lt;/p&gt;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{hp &lt;= 30 &amp;&amp; (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&lt;p className="warning"&gt;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&amp;#x1F6A8; 위험! 체력을 회복하세요!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&lt;/p&gt;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)}</a:t>
            </a:r>
          </a:p>
          <a:p>
            <a:pPr>
              <a:def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&lt;h2&gt;전투력: {attack + defense}&lt;/h2&gt;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299B69-27FD-4E22-A880-F434E8CE0C2C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코드는 위치 확인용이에요. 앞 단계에서 추가했다면 다시 붙여 넣지 않아요.</a:t>
            </a:r>
          </a:p>
        </p:txBody>
      </p:sp>
    </p:spTree>
    <p:extLst>
      <p:ext uri="{BB962C8B-B14F-4D97-AF65-F5344CB8AC3E}">
        <p14:creationId xmlns:p14="http://schemas.microsoft.com/office/powerpoint/2010/main" val="4498743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C870C09-1E30-4FBF-80F6-944AB24252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코드의 마지막 닫는 중괄호 아래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961E46-6532-4C5A-864C-1CC717A206B5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06  경고 문구 디자인 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9FDF9B-1BDF-464B-8723-37067929233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3559B7-3F3B-4BDB-88F5-9A2E594D5CF9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5850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.warning {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12px;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#4a2230;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1px solid #fb7185;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12px;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#fda4af;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font-weight: bold;</a:t>
            </a:r>
          </a:p>
          <a:p>
            <a:pPr>
              <a:def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881399-4B90-4CC3-A830-3AC7A178AF6E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맨 아래에 추가하고 저장해요. 경고가 나타나면 붉은 배경과 테두리를 볼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941752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59DBCCE-C107-44A5-A1D3-BD5A423F85E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hp 변수의 숫자만 수정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349E8B-468E-43BF-8E79-611458625A2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07  체력 20으로 위급 상황 만들기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1408E0-8CF3-49E9-860D-5A3F7E49474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E8DDA5-65EE-437E-AB58-197C110B0750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4191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수정 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F190F-B8D3-4C60-BE60-8BBA092DBE33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hp = 100;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73C23F-AEF5-49DA-83A6-DD22A7840B57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4191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수정 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779B3C-FF7D-403B-9F2B-F22179EAAD0A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hp = 20;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A18E57-1D98-45D3-A7ED-E0EE1D2C1290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Ctrl + S로 저장한 다음 브라우저를 확인해요. const hp 줄을 새로 추가하지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226060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9715424-FE9E-462D-934B-7AD02C29F51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미션 3 · 위급 상황을 재현하라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B372A4-752C-4FE7-B7C4-37C832ECEF3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08  실행 결과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1B9C55-D708-44BE-BCB6-6A87D271F0D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E3DB1-3F55-4617-AD23-D6A104F2E0F5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763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체력: 20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81F4A5-B360-412F-B5C3-89C2AC5E0BBE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FDA4A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0">
                <a:solidFill>
                  <a:srgbClr val="FDA4AF"/>
                </a:solidFill>
                <a:latin typeface="Noto Sans CJK KR"/>
                <a:ea typeface="Noto Sans CJK KR"/>
                <a:cs typeface="Noto Sans CJK KR"/>
              </a:rPr>
              <a:t>위험! 체력을 회복하세요!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41D9A7-3DB7-4792-86A3-F40240AF785D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763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체력 아래에 붉은 경고 상자가 나타나야 해요.</a:t>
            </a:r>
          </a:p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전투력은 기존 계산 결과를 유지해요.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7F5F45-D6F3-4D98-994C-DC40E3BB00A6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경고가 없다면 hp 값, &lt;= 기호, 저장 여부를 먼저 확인해요.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FA92D72-1C58-0CF7-E517-067B0F685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845" y="1048688"/>
            <a:ext cx="2743534" cy="467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059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4C49AC0-952A-49F7-A00A-8186CD0E0A5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hp 값을 80으로 변경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B0289B-E1FA-4BD0-8378-D822026FD8D4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09  체력 회복 후 경고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AECFAE-75CC-4FE5-BEEC-117D48B6820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55EB49-BEE2-4DA3-B2CC-DBC780130398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const hp = 80;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3E3987-6DD5-42B7-A910-2D1A59B80625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저장 후 체력: 80이 표시돼요.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166554-5F09-4CB1-A2EC-2EA796215ECB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경고 문구와 붉은 상자가 사라져요.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13CD46-694C-488E-8A43-9C7968AF5213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20과 80을 번갈아 입력하며 결과를 확인해요.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8B59A-EE86-48DF-BE1E-AA6AB7F85C6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값을 직접 수정하고 저장하는 실습이에요. 회복 버튼은 아직 만들지 않아요.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90B3D02-2012-B5D7-7000-C17CEDB1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771" y="1047108"/>
            <a:ext cx="3133329" cy="466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91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7231B61-7A2B-4D0A-A7B5-CBDAFC016A8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캐릭터 카드 · 완성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E130B5-DF02-4BBE-9B83-F6A25FCAE74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캐릭터 카드 완성 코드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82FF17-9863-4123-85AC-458ED7BD180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FD3C1A-3B51-49B2-9E44-E84F0A687927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App.jsx와 App.css 수정 실습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BC640-E6EC-4554-9873-FD2521FA2C84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레벨과 전투력, 체력 막대와 물약 경고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02B17A-153E-493B-BBF2-33CF83C537F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기존 hello-app 프로젝트에서 두 파일을 교체해요.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2A6852-D11B-E727-F34F-D2212F09D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48519" y="1019175"/>
            <a:ext cx="3177203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725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FB47273-96A7-4B00-BB7D-EF37B8272A2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JSX 캐릭터 카드 · 완성 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0B610F-5016-4BD4-B321-C76762A31FB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파일 교체 순서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ED4B92-CD32-4033-A262-3A70EF15194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8619ED-BF55-4349-AD34-6A8C29F3936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1. src/App.jsx를 열고 기존 내용을 모두 지워요.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79941F-EE05-4145-BF00-BBC19CCEF7B0}"/>
              </a:ext>
            </a:extLst>
          </p:cNvPr>
          <p:cNvSpPr>
            <a:spLocks noGrp="1"/>
          </p:cNvSpPr>
          <p:nvPr/>
        </p:nvSpPr>
        <p:spPr>
          <a:xfrm>
            <a:off x="666750" y="3438525"/>
            <a:ext cx="1076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en-US"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.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src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App.css를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열고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기존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내용을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모두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dirty="0" err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지워요</a:t>
            </a:r>
            <a:r>
              <a:rPr sz="2175" b="0" dirty="0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6994CD-A711-4F43-B451-68EAA1DA3E8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App.jsx는 세 부분을 모두 입력한 뒤 저장해요. 중간에는 태그가 닫히지 않아 오류가 보여요.</a:t>
            </a:r>
          </a:p>
        </p:txBody>
      </p:sp>
    </p:spTree>
    <p:extLst>
      <p:ext uri="{BB962C8B-B14F-4D97-AF65-F5344CB8AC3E}">
        <p14:creationId xmlns:p14="http://schemas.microsoft.com/office/powerpoint/2010/main" val="716456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EB41228-05BD-47D1-957D-37DED2AB96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기존 내용 전체 삭제 후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94EC2D-A18A-41B4-AD39-FFB34F96924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  1/3  변수 준비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139012-CF18-44EC-A1E7-176C960D8FA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852698-5FEC-4E90-9D2E-D2343B029A0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React from "react";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import "./App.css";</a:t>
            </a:r>
          </a:p>
          <a:p>
            <a:endParaRPr sz="1950" b="0">
              <a:solidFill>
                <a:srgbClr val="D6F4EB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export default function App() {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nickname = "버그 사냥꾼";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job = "코딩 마법사";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level = 7;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attack = 80;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defense = 50;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hp = 30;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const maxHp = 100;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EA87D9-1634-487A-880A-292D5A5BB89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&amp;#x1F9D9; 같은 코드는 이모지를 나타내요. 다음 장도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881908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2C5D6A3-2C5A-4EB1-9208-BB6429F6ED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앞 장 코드 바로 아래에 이어 붙이기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F9B8DB-3C3A-4761-94C4-4AAF4BE5B51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  2/3  캐릭터와 능력치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F835F2-4936-4206-A6EB-EECB5612ED7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843E5E-0DF8-443A-9D92-E71B173188FD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return (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&lt;main className="character-card"&gt;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&lt;div className="avatar"&gt;&amp;#x1F9D9;&lt;/div&gt;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&lt;h1&gt;{nickname}&lt;/h1&gt;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 className="job"&gt;Lv. {level} · {job}&lt;/p&gt;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&lt;hr /&gt;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&lt;p&gt;&amp;#x2694;&amp;#xFE0F; 공격력: {attack}&lt;/p&gt;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&lt;p&gt;&amp;#x1F6E1;&amp;#xFE0F; 방어력: {defense}&lt;/p&gt;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&lt;h2&gt;&amp;#x1F525; 전투력: {attack + defense}&lt;/h2&gt;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&lt;p&gt;&amp;#x1F497; 체력: {hp} / {maxHp}&lt;/p&gt;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20B463-F839-4F88-82DC-87C96178AA69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전투력은 공격력 + 방어력으로 계산해요. 다음 장에서 태그와 함수를 닫아요.</a:t>
            </a:r>
          </a:p>
        </p:txBody>
      </p:sp>
    </p:spTree>
    <p:extLst>
      <p:ext uri="{BB962C8B-B14F-4D97-AF65-F5344CB8AC3E}">
        <p14:creationId xmlns:p14="http://schemas.microsoft.com/office/powerpoint/2010/main" val="5806337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4A6449-EEA6-4297-944F-B5F27483E2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src/App.jsx  /  앞 장 코드 바로 아래에 이어 붙이기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44A411-D171-4192-9778-5AE55B3D205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App.jsx  3/3  체력 막대와 경고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CFE550-DE67-419F-9834-9B19AC0D189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C1C72E-124D-4922-AC73-48A420CE24BD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&lt;div className="hp-bar"&gt;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&lt;div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className="hp-fill"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  style={{ width: `${(hp / maxHp) * 100}%` }}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/&gt;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&lt;/div&gt;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{hp &lt;= 30 &amp;&amp; (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  &lt;p className="warning"&gt;&amp;#x1F6A8; 물약이 필요해요!&lt;/p&gt;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  )}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&lt;/main&gt;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);</a:t>
            </a:r>
          </a:p>
          <a:p>
            <a:pPr>
              <a:def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FEC9CA-4FD0-4339-9F61-516B051D3A2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여기까지 입력한 뒤 Ctrl + S로 저장해요. 코드의 ` 기호는 백틱이에요.</a:t>
            </a:r>
          </a:p>
        </p:txBody>
      </p:sp>
    </p:spTree>
    <p:extLst>
      <p:ext uri="{BB962C8B-B14F-4D97-AF65-F5344CB8AC3E}">
        <p14:creationId xmlns:p14="http://schemas.microsoft.com/office/powerpoint/2010/main" val="706554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0FAD56B-7BA8-4C1D-A837-F9966F56AC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기존 내용 전체 삭제 후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58E793-0625-40A1-AB73-02AED3F891A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1/6  전체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A8974E-CF6C-4E15-AA85-58C7B0F3B44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6BCF54-61E6-4D3C-ADEF-90DAFD84364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*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box-sizing: border-box;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body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12px;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white;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color: white;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font-family: "Malgun Gothic", sans-serif;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#root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CE922E-C3AB-4285-9B1A-12DC1622085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코드를 입력한 뒤 다음 장을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19676165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A236FD-B5FA-4AF2-AE4D-5F79BF3C972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F1FC70-A03A-490F-BF38-DBB9215AA73C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2/6  카드와 캐릭터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7A01DC-C2B6-4FF8-9EE4-43D28CB181C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283AFA-8790-4BF0-83E1-05C9E1DBA742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max-width: 490px;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auto;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padding: 48px 38px;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border-radius: 32px;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#192436;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text-align: center;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.avatar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margin-bottom: 32px;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90px;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line-height: 1.3;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6525E-62D2-4BC4-A6F0-947611EDEC5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코드를 입력한 뒤 다음 장을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21114440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32FEF86-ED85-4EC2-B614-DF9C5B05A8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5E099D-6C2B-4D22-8CC1-94BB6094F500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3/6  이름과 설명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29D9EE-3380-42B1-8CB2-8B16247DE7C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8F7AEE-E672-490C-BE6B-5A1E181D0A1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h1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0 0 34px;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40px;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letter-spacing: -1px;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p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20px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22px;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line-height: 1.5;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.job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margin-bottom: 20px;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E3AD12-C72B-4402-B0AE-F36206BD7B64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코드를 입력한 뒤 다음 장을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8250253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9E75373-F0DE-4EA9-8699-E7CEFDA652B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E9AF98-99DE-41CD-A46C-E36651B36C49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4/6  구분선과 전투력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BFC491-8C22-46AF-9AFD-C386DBF5866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AEBAA0-6233-43E1-AD6C-C1FC4A81CD2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hr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20px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border: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border-top: 1px solid #999;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h2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28px 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font-size: 34px;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8014BD-9DC0-49B2-BA2C-DAAE77E65298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코드를 입력한 뒤 다음 장을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102375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AEDBFB9-2D61-4838-ADAC-D898F2F9289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FEEC18-C03B-46C1-9766-A6DEFEC13CE8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5/6  체력 막대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16F02E-5425-44A8-B732-72816C958E7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31AD37-9A7A-4684-9D63-F264D4AF2EC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.hp-bar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width: 220px;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max-width: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height: 22px;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24px auto 28px;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#808080;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overflow: hidden;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.hp-fill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height: 100%;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background: #008000;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7545E2-2D4F-4C18-A94E-56E52D801071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이 코드를 입력한 뒤 다음 장을 같은 파일에 이어 붙여요.</a:t>
            </a:r>
          </a:p>
        </p:txBody>
      </p:sp>
    </p:spTree>
    <p:extLst>
      <p:ext uri="{BB962C8B-B14F-4D97-AF65-F5344CB8AC3E}">
        <p14:creationId xmlns:p14="http://schemas.microsoft.com/office/powerpoint/2010/main" val="1308047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61FD4D0-B718-4E2C-8195-8FA045E30F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src/App.css  /  앞 장 코드 바로 아래에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5D058D-C2C4-47FA-A815-E25C132EA316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3F6FB"/>
                </a:solidFill>
                <a:latin typeface="Noto Sans CJK KR"/>
                <a:ea typeface="Noto Sans CJK KR"/>
                <a:cs typeface="Noto Sans CJK KR"/>
              </a:rPr>
              <a:t>App.css  6/6  경고와 작은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0AF36F-7C45-4A6E-8549-841C90E2582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AAB8CA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9FFAE5-230B-4A31-8704-557FC6B80E2D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414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.character-card .warning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margin: 28px 0 10px;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@media (max-width: 400px)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.character-card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padding: 36px 20px;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.character-card h1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font-size: 32px;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.character-card h2 {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  font-size: 28px;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  }</a:t>
            </a:r>
          </a:p>
          <a:p>
            <a:pPr>
              <a:def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D6F4EB"/>
                </a:solidFill>
                <a:latin typeface="Noto Sans CJK KR"/>
                <a:ea typeface="Noto Sans CJK KR"/>
                <a:cs typeface="Noto Sans CJK KR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453676-66B4-4B08-9BF4-1748E59A286A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FE2C4"/>
                </a:solidFill>
                <a:latin typeface="Noto Sans CJK KR"/>
                <a:ea typeface="Noto Sans CJK KR"/>
                <a:cs typeface="Noto Sans CJK KR"/>
              </a:rPr>
              <a:t>CSS 여섯 부분을 모두 입력했으면 Ctrl + S로 저장해요.</a:t>
            </a:r>
          </a:p>
        </p:txBody>
      </p:sp>
    </p:spTree>
    <p:extLst>
      <p:ext uri="{BB962C8B-B14F-4D97-AF65-F5344CB8AC3E}">
        <p14:creationId xmlns:p14="http://schemas.microsoft.com/office/powerpoint/2010/main" val="18282714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10693</Words>
  <Application>Microsoft Office PowerPoint</Application>
  <DocSecurity>0</DocSecurity>
  <PresentationFormat>와이드스크린</PresentationFormat>
  <Paragraphs>1941</Paragraphs>
  <Slides>63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6" baseType="lpstr">
      <vt:lpstr>Noto Sans CJK KR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은진 이</cp:lastModifiedBy>
  <cp:revision>2</cp:revision>
  <dcterms:created xsi:type="dcterms:W3CDTF">2026-09-27T04:59:53Z</dcterms:created>
  <dcterms:modified xsi:type="dcterms:W3CDTF">2026-09-27T10:02:54Z</dcterms:modified>
</cp:coreProperties>
</file>